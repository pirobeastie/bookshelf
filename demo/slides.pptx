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7ab82e7-faf0-46ab-2e4c-de55304aba1c}">
          <p14:sldIdLst>
            <p14:sldId id="256"/>
            <p14:sldId id="257"/>
          </p14:sldIdLst>
        </p14:section>
        <p14:section name="Design" id="{c626bab7-16e5-96a1-cf35-4c3fe1e69991}">
          <p14:sldIdLst>
            <p14:sldId id="258"/>
            <p14:sldId id="259"/>
          </p14:sldIdLst>
        </p14:section>
        <p14:section name="Delivery" id="{5345fe47-4ee5-407c-805d-f3811ba12476}">
          <p14:sldIdLst>
            <p14:sldId id="260"/>
            <p14:sldId id="261"/>
          </p14:sldIdLst>
        </p14:section>
        <p14:section name="Platform" id="{7ca8e0ba-f753-2a8b-8a35-783a5b91e0d6}">
          <p14:sldIdLst>
            <p14:sldId id="262"/>
            <p14:sldId id="263"/>
            <p14:sldId id="264"/>
          </p14:sldIdLst>
        </p14:section>
        <p14:section name="Close" id="{e8e7bf38-912c-214a-38bf-ee743473c6f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small reading-list app, and the whole delivery chain around it. The app is deliberately small; the DevOps layer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numbers are the proof points; the bottom strip says everything was really executed, not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tool out loud. Say: standard Python web stack, containerised, shipped by Actions, run on Kubernetes, watched by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design decision worth calling out: the frontend never knows the backend's address. That is why one image works in both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green run live here. Point at the needs relationship and at the SHA tag on the package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slide in the deck - a gate that blocked a real build and a fix that was a dependency upgrade, not a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apply gap rather than letting the grader find it. Then explain why hand-written HCL made the offline plan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env ordering bug - I got it wrong first and the pod came up with the literal string in its connection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handler label is the route template, not the raw path - otherwise every book id would create a new time series. Mention cardinality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first learning. Then hand over to the live demo if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6D2E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lstStyle>
            <a:lvl1pPr algn="l" indent="0" marL="0">
              <a:buNone/>
              <a:defRPr lang="en-US" sz="5800" b="1" dirty="0">
                <a:solidFill>
                  <a:schemeClr val="bg1"/>
                </a:solidFill>
              </a:defRPr>
            </a:lvl1pPr>
          </a:lstStyle>
          <a:p>
            <a:pPr algn="l" indent="0" marL="0">
              <a:buNone/>
            </a:pPr>
            <a:endParaRPr lang="en-US" sz="5800" dirty="0"/>
          </a:p>
        </p:txBody>
      </p:sp>
      <p:sp>
        <p:nvSpPr>
          <p:cNvPr id="3" name="Text 0"/>
          <p:cNvSpPr/>
          <p:nvPr>
            <p:ph idx="101" type="body" hasCustomPrompt="1"/>
          </p:nvPr>
        </p:nvSpPr>
        <p:spPr>
          <a:xfrm>
            <a:off x="868680" y="3520440"/>
            <a:ext cx="10515600" cy="685800"/>
          </a:xfrm>
          <a:prstGeom prst="rect">
            <a:avLst/>
          </a:prstGeom>
          <a:noFill/>
          <a:ln/>
        </p:spPr>
        <p:txBody>
          <a:bodyPr wrap="square" rtlCol="0"/>
          <a:lstStyle>
            <a:lvl1pPr algn="l" indent="0" marL="0">
              <a:buNone/>
              <a:defRPr lang="en-US" sz="2000" dirty="0">
                <a:solidFill>
                  <a:srgbClr val="EBD9DE"/>
                </a:solidFill>
              </a:defRPr>
            </a:lvl1pPr>
          </a:lstStyle>
          <a:p>
            <a:pPr algn="l" indent="0" marL="0">
              <a:buNone/>
            </a:pPr>
            <a:endParaRPr lang="en-US" sz="2000" dirty="0"/>
          </a:p>
        </p:txBody>
      </p:sp>
      <p:sp>
        <p:nvSpPr>
          <p:cNvPr id="4" name="Text 0"/>
          <p:cNvSpPr/>
          <p:nvPr>
            <p:ph idx="102" type="body" hasCustomPrompt="1"/>
          </p:nvPr>
        </p:nvSpPr>
        <p:spPr>
          <a:xfrm>
            <a:off x="868680" y="5029200"/>
            <a:ext cx="10515600" cy="1005840"/>
          </a:xfrm>
          <a:prstGeom prst="rect">
            <a:avLst/>
          </a:prstGeom>
          <a:noFill/>
          <a:ln/>
        </p:spPr>
        <p:txBody>
          <a:bodyPr wrap="square" rtlCol="0"/>
          <a:lstStyle>
            <a:lvl1pPr algn="l" indent="0" marL="0">
              <a:buNone/>
              <a:defRPr lang="en-US" sz="1400" dirty="0">
                <a:solidFill>
                  <a:srgbClr val="D6BCC4"/>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txBox="1"/>
          <p:nvPr/>
        </p:nvSpPr>
        <p:spPr>
          <a:xfrm>
            <a:off x="548640" y="6263640"/>
            <a:ext cx="6400800" cy="320040"/>
          </a:xfrm>
          <a:prstGeom prst="rect">
            <a:avLst/>
          </a:prstGeom>
          <a:noFill/>
          <a:ln/>
        </p:spPr>
        <p:txBody>
          <a:bodyPr wrap="square" lIns="0" tIns="0" rIns="0" bIns="0" rtlCol="0" anchor="ctr"/>
          <a:lstStyle/>
          <a:p>
            <a:pPr algn="l" indent="0" marL="0">
              <a:buNone/>
            </a:pPr>
            <a:r>
              <a:rPr lang="en-US" sz="1000" dirty="0">
                <a:solidFill>
                  <a:srgbClr val="9B8B91"/>
                </a:solidFill>
              </a:rPr>
              <a:t>BookShelf - DevOps Capstone</a:t>
            </a:r>
            <a:endParaRPr lang="en-US" sz="10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6D2E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nchor="b"/>
          <a:lstStyle/>
          <a:p>
            <a:pPr algn="l" indent="0" marL="0">
              <a:buNone/>
            </a:pPr>
            <a:r>
              <a:rPr lang="en-US" sz="5800" b="1" dirty="0">
                <a:solidFill>
                  <a:schemeClr val="bg1"/>
                </a:solidFill>
              </a:rPr>
              <a:t>BookShelf</a:t>
            </a:r>
            <a:endParaRPr lang="en-US" sz="5800" dirty="0"/>
          </a:p>
        </p:txBody>
      </p:sp>
      <p:sp>
        <p:nvSpPr>
          <p:cNvPr id="3" name="Text 0"/>
          <p:cNvSpPr/>
          <p:nvPr>
            <p:ph idx="101" type="body" hasCustomPrompt="1"/>
          </p:nvPr>
        </p:nvSpPr>
        <p:spPr>
          <a:xfrm>
            <a:off x="868680" y="3520440"/>
            <a:ext cx="10515600" cy="685800"/>
          </a:xfrm>
          <a:prstGeom prst="rect">
            <a:avLst/>
          </a:prstGeom>
          <a:noFill/>
          <a:ln/>
        </p:spPr>
        <p:txBody>
          <a:bodyPr wrap="square" rtlCol="0" anchor="t"/>
          <a:lstStyle/>
          <a:p>
            <a:pPr algn="l" indent="0" marL="0">
              <a:buNone/>
            </a:pPr>
            <a:r>
              <a:rPr lang="en-US" sz="2000" dirty="0">
                <a:solidFill>
                  <a:srgbClr val="EBD9DE"/>
                </a:solidFill>
              </a:rPr>
              <a:t>A reading tracker, and the DevOps pipeline that ships it</a:t>
            </a:r>
            <a:endParaRPr lang="en-US" sz="2000" dirty="0"/>
          </a:p>
        </p:txBody>
      </p:sp>
      <p:sp>
        <p:nvSpPr>
          <p:cNvPr id="4" name="Text 0"/>
          <p:cNvSpPr/>
          <p:nvPr>
            <p:ph idx="102" type="body" hasCustomPrompt="1"/>
          </p:nvPr>
        </p:nvSpPr>
        <p:spPr>
          <a:xfrm>
            <a:off x="868680" y="5029200"/>
            <a:ext cx="10515600" cy="1005840"/>
          </a:xfrm>
          <a:prstGeom prst="rect">
            <a:avLst/>
          </a:prstGeom>
          <a:noFill/>
          <a:ln/>
        </p:spPr>
        <p:txBody>
          <a:bodyPr wrap="square" rtlCol="0" anchor="t"/>
          <a:lstStyle/>
          <a:p>
            <a:pPr algn="l" indent="0" marL="0">
              <a:buNone/>
            </a:pPr>
            <a:r>
              <a:rPr lang="en-US" sz="1400" b="1" dirty="0">
                <a:solidFill>
                  <a:srgbClr val="D6BCC4"/>
                </a:solidFill>
              </a:rPr>
              <a:t>Nanakjot Singh Chahal  ·  24bcs10132</a:t>
            </a:r>
            <a:endParaRPr lang="en-US" sz="1400" dirty="0"/>
          </a:p>
          <a:p>
            <a:pPr algn="l" indent="0" marL="0">
              <a:buNone/>
            </a:pPr>
            <a:r>
              <a:rPr lang="en-US" sz="1400" dirty="0">
                <a:solidFill>
                  <a:srgbClr val="D6BCC4"/>
                </a:solidFill>
              </a:rPr>
              <a:t>github.com/piroBeastie/bookshelf</a:t>
            </a:r>
            <a:endParaRPr lang="en-US" sz="1400" dirty="0"/>
          </a:p>
        </p:txBody>
      </p:sp>
      <p:sp>
        <p:nvSpPr>
          <p:cNvPr id="5" name="Shape 3"/>
          <p:cNvSpPr/>
          <p:nvPr/>
        </p:nvSpPr>
        <p:spPr>
          <a:xfrm>
            <a:off x="868680" y="1783080"/>
            <a:ext cx="1280160" cy="54864"/>
          </a:xfrm>
          <a:prstGeom prst="rect">
            <a:avLst/>
          </a:prstGeom>
          <a:solidFill>
            <a:srgbClr val="E6C78A"/>
          </a:solidFill>
          <a:ln w="12700">
            <a:solidFill>
              <a:srgbClr val="E6C78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What I built</a:t>
            </a:r>
            <a:endParaRPr lang="en-US" sz="3200" dirty="0"/>
          </a:p>
        </p:txBody>
      </p:sp>
      <p:sp>
        <p:nvSpPr>
          <p:cNvPr id="3" name="Text 1"/>
          <p:cNvSpPr txBox="1"/>
          <p:nvPr/>
        </p:nvSpPr>
        <p:spPr>
          <a:xfrm>
            <a:off x="548640" y="1371600"/>
            <a:ext cx="5577840" cy="2103120"/>
          </a:xfrm>
          <a:prstGeom prst="rect">
            <a:avLst/>
          </a:prstGeom>
          <a:noFill/>
          <a:ln/>
        </p:spPr>
        <p:txBody>
          <a:bodyPr wrap="square" lIns="0" tIns="0" rIns="0" bIns="0" rtlCol="0" anchor="ctr"/>
          <a:lstStyle/>
          <a:p>
            <a:pPr indent="0" marL="0">
              <a:lnSpc>
                <a:spcPts val="2200"/>
              </a:lnSpc>
              <a:buNone/>
            </a:pPr>
            <a:r>
              <a:rPr lang="en-US" sz="1500" b="1" dirty="0">
                <a:solidFill>
                  <a:schemeClr val="tx1"/>
                </a:solidFill>
              </a:rPr>
              <a:t>BookShelf is a reading list.</a:t>
            </a:r>
            <a:endParaRPr lang="en-US" sz="1500" dirty="0"/>
          </a:p>
          <a:p>
            <a:pPr indent="0" marL="0">
              <a:lnSpc>
                <a:spcPts val="2200"/>
              </a:lnSpc>
              <a:buNone/>
            </a:pPr>
            <a:r>
              <a:rPr lang="en-US" sz="1500" dirty="0">
                <a:solidFill>
                  <a:schemeClr val="tx1"/>
                </a:solidFill>
              </a:rPr>
              <a:t>Add a book, move it between WANT, READING and FINISHED, rate it out of five. The API keeps a running count of pages actually finished and the average rating of the books you rated.</a:t>
            </a:r>
            <a:endParaRPr lang="en-US" sz="1500" dirty="0"/>
          </a:p>
          <a:p>
            <a:pPr indent="0" marL="0">
              <a:lnSpc>
                <a:spcPts val="2200"/>
              </a:lnSpc>
              <a:buNone/>
            </a:pPr>
            <a:r>
              <a:rPr lang="en-US" sz="800" dirty="0">
                <a:solidFill>
                  <a:schemeClr val="tx1"/>
                </a:solidFill>
              </a:rPr>
              <a:t> </a:t>
            </a:r>
            <a:endParaRPr lang="en-US" sz="1500" dirty="0"/>
          </a:p>
          <a:p>
            <a:pPr indent="0" marL="0">
              <a:lnSpc>
                <a:spcPts val="2200"/>
              </a:lnSpc>
              <a:buNone/>
            </a:pPr>
            <a:r>
              <a:rPr lang="en-US" sz="1500" dirty="0">
                <a:solidFill>
                  <a:schemeClr val="tx1"/>
                </a:solidFill>
              </a:rPr>
              <a:t>The domain is my own. The DevOps layer follows the architecture taught in the course, module for module.</a:t>
            </a:r>
            <a:endParaRPr lang="en-US" sz="1500" dirty="0"/>
          </a:p>
        </p:txBody>
      </p:sp>
      <p:sp>
        <p:nvSpPr>
          <p:cNvPr id="4" name="Shape 2"/>
          <p:cNvSpPr/>
          <p:nvPr/>
        </p:nvSpPr>
        <p:spPr>
          <a:xfrm>
            <a:off x="6492240" y="1371600"/>
            <a:ext cx="2514600" cy="1234440"/>
          </a:xfrm>
          <a:prstGeom prst="roundRect">
            <a:avLst>
              <a:gd name="adj" fmla="val 592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5" name="Text 3"/>
          <p:cNvSpPr txBox="1"/>
          <p:nvPr/>
        </p:nvSpPr>
        <p:spPr>
          <a:xfrm>
            <a:off x="6629400" y="1481328"/>
            <a:ext cx="2240280" cy="658368"/>
          </a:xfrm>
          <a:prstGeom prst="rect">
            <a:avLst/>
          </a:prstGeom>
          <a:noFill/>
          <a:ln/>
        </p:spPr>
        <p:txBody>
          <a:bodyPr wrap="square" lIns="0" tIns="0" rIns="0" bIns="0" rtlCol="0" anchor="ctr"/>
          <a:lstStyle/>
          <a:p>
            <a:pPr algn="l" indent="0" marL="0">
              <a:buNone/>
            </a:pPr>
            <a:r>
              <a:rPr lang="en-US" sz="4000" b="1" dirty="0">
                <a:solidFill>
                  <a:srgbClr val="6D2E46"/>
                </a:solidFill>
              </a:rPr>
              <a:t>9</a:t>
            </a:r>
            <a:endParaRPr lang="en-US" sz="4000" dirty="0"/>
          </a:p>
        </p:txBody>
      </p:sp>
      <p:sp>
        <p:nvSpPr>
          <p:cNvPr id="6" name="Text 4"/>
          <p:cNvSpPr txBox="1"/>
          <p:nvPr/>
        </p:nvSpPr>
        <p:spPr>
          <a:xfrm>
            <a:off x="6647688" y="2148840"/>
            <a:ext cx="2240280" cy="320040"/>
          </a:xfrm>
          <a:prstGeom prst="rect">
            <a:avLst/>
          </a:prstGeom>
          <a:noFill/>
          <a:ln/>
        </p:spPr>
        <p:txBody>
          <a:bodyPr wrap="square" lIns="0" tIns="0" rIns="0" bIns="0" rtlCol="0" anchor="ctr"/>
          <a:lstStyle/>
          <a:p>
            <a:pPr algn="l" indent="0" marL="0">
              <a:buNone/>
            </a:pPr>
            <a:r>
              <a:rPr lang="en-US" sz="1200" dirty="0">
                <a:solidFill>
                  <a:srgbClr val="6E5C62"/>
                </a:solidFill>
              </a:rPr>
              <a:t>REST endpoints</a:t>
            </a:r>
            <a:endParaRPr lang="en-US" sz="1200" dirty="0"/>
          </a:p>
        </p:txBody>
      </p:sp>
      <p:sp>
        <p:nvSpPr>
          <p:cNvPr id="7" name="Shape 5"/>
          <p:cNvSpPr/>
          <p:nvPr/>
        </p:nvSpPr>
        <p:spPr>
          <a:xfrm>
            <a:off x="9235440" y="1371600"/>
            <a:ext cx="2514600" cy="1234440"/>
          </a:xfrm>
          <a:prstGeom prst="roundRect">
            <a:avLst>
              <a:gd name="adj" fmla="val 592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8" name="Text 6"/>
          <p:cNvSpPr txBox="1"/>
          <p:nvPr/>
        </p:nvSpPr>
        <p:spPr>
          <a:xfrm>
            <a:off x="9372600" y="1481328"/>
            <a:ext cx="2240280" cy="658368"/>
          </a:xfrm>
          <a:prstGeom prst="rect">
            <a:avLst/>
          </a:prstGeom>
          <a:noFill/>
          <a:ln/>
        </p:spPr>
        <p:txBody>
          <a:bodyPr wrap="square" lIns="0" tIns="0" rIns="0" bIns="0" rtlCol="0" anchor="ctr"/>
          <a:lstStyle/>
          <a:p>
            <a:pPr algn="l" indent="0" marL="0">
              <a:buNone/>
            </a:pPr>
            <a:r>
              <a:rPr lang="en-US" sz="4000" b="1" dirty="0">
                <a:solidFill>
                  <a:srgbClr val="2E7D63"/>
                </a:solidFill>
              </a:rPr>
              <a:t>11</a:t>
            </a:r>
            <a:endParaRPr lang="en-US" sz="4000" dirty="0"/>
          </a:p>
        </p:txBody>
      </p:sp>
      <p:sp>
        <p:nvSpPr>
          <p:cNvPr id="9" name="Text 7"/>
          <p:cNvSpPr txBox="1"/>
          <p:nvPr/>
        </p:nvSpPr>
        <p:spPr>
          <a:xfrm>
            <a:off x="9390888" y="2148840"/>
            <a:ext cx="2240280" cy="320040"/>
          </a:xfrm>
          <a:prstGeom prst="rect">
            <a:avLst/>
          </a:prstGeom>
          <a:noFill/>
          <a:ln/>
        </p:spPr>
        <p:txBody>
          <a:bodyPr wrap="square" lIns="0" tIns="0" rIns="0" bIns="0" rtlCol="0" anchor="ctr"/>
          <a:lstStyle/>
          <a:p>
            <a:pPr algn="l" indent="0" marL="0">
              <a:buNone/>
            </a:pPr>
            <a:r>
              <a:rPr lang="en-US" sz="1200" dirty="0">
                <a:solidFill>
                  <a:srgbClr val="6E5C62"/>
                </a:solidFill>
              </a:rPr>
              <a:t>pytest tests</a:t>
            </a:r>
            <a:endParaRPr lang="en-US" sz="1200" dirty="0"/>
          </a:p>
        </p:txBody>
      </p:sp>
      <p:sp>
        <p:nvSpPr>
          <p:cNvPr id="10" name="Shape 8"/>
          <p:cNvSpPr/>
          <p:nvPr/>
        </p:nvSpPr>
        <p:spPr>
          <a:xfrm>
            <a:off x="6492240" y="2788920"/>
            <a:ext cx="2514600" cy="1234440"/>
          </a:xfrm>
          <a:prstGeom prst="roundRect">
            <a:avLst>
              <a:gd name="adj" fmla="val 592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1" name="Text 9"/>
          <p:cNvSpPr txBox="1"/>
          <p:nvPr/>
        </p:nvSpPr>
        <p:spPr>
          <a:xfrm>
            <a:off x="6629400" y="2898648"/>
            <a:ext cx="2240280" cy="658368"/>
          </a:xfrm>
          <a:prstGeom prst="rect">
            <a:avLst/>
          </a:prstGeom>
          <a:noFill/>
          <a:ln/>
        </p:spPr>
        <p:txBody>
          <a:bodyPr wrap="square" lIns="0" tIns="0" rIns="0" bIns="0" rtlCol="0" anchor="ctr"/>
          <a:lstStyle/>
          <a:p>
            <a:pPr algn="l" indent="0" marL="0">
              <a:buNone/>
            </a:pPr>
            <a:r>
              <a:rPr lang="en-US" sz="4000" b="1" dirty="0">
                <a:solidFill>
                  <a:srgbClr val="3F5E7A"/>
                </a:solidFill>
              </a:rPr>
              <a:t>2</a:t>
            </a:r>
            <a:endParaRPr lang="en-US" sz="4000" dirty="0"/>
          </a:p>
        </p:txBody>
      </p:sp>
      <p:sp>
        <p:nvSpPr>
          <p:cNvPr id="12" name="Text 10"/>
          <p:cNvSpPr txBox="1"/>
          <p:nvPr/>
        </p:nvSpPr>
        <p:spPr>
          <a:xfrm>
            <a:off x="6647688" y="3566160"/>
            <a:ext cx="2240280" cy="320040"/>
          </a:xfrm>
          <a:prstGeom prst="rect">
            <a:avLst/>
          </a:prstGeom>
          <a:noFill/>
          <a:ln/>
        </p:spPr>
        <p:txBody>
          <a:bodyPr wrap="square" lIns="0" tIns="0" rIns="0" bIns="0" rtlCol="0" anchor="ctr"/>
          <a:lstStyle/>
          <a:p>
            <a:pPr algn="l" indent="0" marL="0">
              <a:buNone/>
            </a:pPr>
            <a:r>
              <a:rPr lang="en-US" sz="1200" dirty="0">
                <a:solidFill>
                  <a:srgbClr val="6E5C62"/>
                </a:solidFill>
              </a:rPr>
              <a:t>non-root images</a:t>
            </a:r>
            <a:endParaRPr lang="en-US" sz="1200" dirty="0"/>
          </a:p>
        </p:txBody>
      </p:sp>
      <p:sp>
        <p:nvSpPr>
          <p:cNvPr id="13" name="Shape 11"/>
          <p:cNvSpPr/>
          <p:nvPr/>
        </p:nvSpPr>
        <p:spPr>
          <a:xfrm>
            <a:off x="9235440" y="2788920"/>
            <a:ext cx="2514600" cy="1234440"/>
          </a:xfrm>
          <a:prstGeom prst="roundRect">
            <a:avLst>
              <a:gd name="adj" fmla="val 592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4" name="Text 12"/>
          <p:cNvSpPr txBox="1"/>
          <p:nvPr/>
        </p:nvSpPr>
        <p:spPr>
          <a:xfrm>
            <a:off x="9372600" y="2898648"/>
            <a:ext cx="2240280" cy="658368"/>
          </a:xfrm>
          <a:prstGeom prst="rect">
            <a:avLst/>
          </a:prstGeom>
          <a:noFill/>
          <a:ln/>
        </p:spPr>
        <p:txBody>
          <a:bodyPr wrap="square" lIns="0" tIns="0" rIns="0" bIns="0" rtlCol="0" anchor="ctr"/>
          <a:lstStyle/>
          <a:p>
            <a:pPr algn="l" indent="0" marL="0">
              <a:buNone/>
            </a:pPr>
            <a:r>
              <a:rPr lang="en-US" sz="4000" b="1" dirty="0">
                <a:solidFill>
                  <a:srgbClr val="B07D2B"/>
                </a:solidFill>
              </a:rPr>
              <a:t>15</a:t>
            </a:r>
            <a:endParaRPr lang="en-US" sz="4000" dirty="0"/>
          </a:p>
        </p:txBody>
      </p:sp>
      <p:sp>
        <p:nvSpPr>
          <p:cNvPr id="15" name="Text 13"/>
          <p:cNvSpPr txBox="1"/>
          <p:nvPr/>
        </p:nvSpPr>
        <p:spPr>
          <a:xfrm>
            <a:off x="9390888" y="3566160"/>
            <a:ext cx="2240280" cy="320040"/>
          </a:xfrm>
          <a:prstGeom prst="rect">
            <a:avLst/>
          </a:prstGeom>
          <a:noFill/>
          <a:ln/>
        </p:spPr>
        <p:txBody>
          <a:bodyPr wrap="square" lIns="0" tIns="0" rIns="0" bIns="0" rtlCol="0" anchor="ctr"/>
          <a:lstStyle/>
          <a:p>
            <a:pPr algn="l" indent="0" marL="0">
              <a:buNone/>
            </a:pPr>
            <a:r>
              <a:rPr lang="en-US" sz="1200" dirty="0">
                <a:solidFill>
                  <a:srgbClr val="6E5C62"/>
                </a:solidFill>
              </a:rPr>
              <a:t>Terraform resources</a:t>
            </a:r>
            <a:endParaRPr lang="en-US" sz="1200" dirty="0"/>
          </a:p>
        </p:txBody>
      </p:sp>
      <p:sp>
        <p:nvSpPr>
          <p:cNvPr id="16" name="Shape 14"/>
          <p:cNvSpPr/>
          <p:nvPr/>
        </p:nvSpPr>
        <p:spPr>
          <a:xfrm>
            <a:off x="548640" y="3886200"/>
            <a:ext cx="11064240" cy="1920240"/>
          </a:xfrm>
          <a:prstGeom prst="roundRect">
            <a:avLst>
              <a:gd name="adj" fmla="val 3810"/>
            </a:avLst>
          </a:prstGeom>
          <a:solidFill>
            <a:srgbClr val="FAF6F7"/>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7" name="Text 15"/>
          <p:cNvSpPr txBox="1"/>
          <p:nvPr/>
        </p:nvSpPr>
        <p:spPr>
          <a:xfrm>
            <a:off x="822960" y="4069080"/>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Every module was actually run</a:t>
            </a:r>
            <a:endParaRPr lang="en-US" sz="1600" dirty="0"/>
          </a:p>
        </p:txBody>
      </p:sp>
      <p:sp>
        <p:nvSpPr>
          <p:cNvPr id="18" name="Text 16"/>
          <p:cNvSpPr txBox="1"/>
          <p:nvPr/>
        </p:nvSpPr>
        <p:spPr>
          <a:xfrm>
            <a:off x="822960" y="4480560"/>
            <a:ext cx="10515600" cy="1097280"/>
          </a:xfrm>
          <a:prstGeom prst="rect">
            <a:avLst/>
          </a:prstGeom>
          <a:noFill/>
          <a:ln/>
        </p:spPr>
        <p:txBody>
          <a:bodyPr wrap="square" lIns="0" tIns="0" rIns="0" bIns="0" rtlCol="0" anchor="ctr"/>
          <a:lstStyle/>
          <a:p>
            <a:pPr indent="0" marL="0">
              <a:lnSpc>
                <a:spcPts val="2000"/>
              </a:lnSpc>
              <a:buNone/>
            </a:pPr>
            <a:r>
              <a:rPr lang="en-US" sz="1300" dirty="0">
                <a:solidFill>
                  <a:schemeClr val="tx1"/>
                </a:solidFill>
              </a:rPr>
              <a:t>Docker Compose on my laptop, a Helm release on a real Kubernetes cluster, a green GitHub Actions pipeline publishing images to GHCR, Prometheus scraping both backend pods, and a Grafana panel with live traffic on it.</a:t>
            </a:r>
            <a:endParaRPr lang="en-US" sz="1300" dirty="0"/>
          </a:p>
          <a:p>
            <a:pPr indent="0" marL="0">
              <a:lnSpc>
                <a:spcPts val="2000"/>
              </a:lnSpc>
              <a:buNone/>
            </a:pPr>
            <a:r>
              <a:rPr lang="en-US" sz="1300" i="1" dirty="0">
                <a:solidFill>
                  <a:schemeClr val="tx1"/>
                </a:solidFill>
              </a:rPr>
              <a:t>22 screenshots of those runs are committed in the repo, module by module, in hw.md.</a:t>
            </a:r>
            <a:endParaRPr lang="en-US" sz="13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Tech stack</a:t>
            </a:r>
            <a:endParaRPr lang="en-US" sz="3200" dirty="0"/>
          </a:p>
        </p:txBody>
      </p:sp>
      <p:sp>
        <p:nvSpPr>
          <p:cNvPr id="3" name="Shape 1"/>
          <p:cNvSpPr/>
          <p:nvPr/>
        </p:nvSpPr>
        <p:spPr>
          <a:xfrm>
            <a:off x="548640" y="1417320"/>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4" name="Shape 2"/>
          <p:cNvSpPr/>
          <p:nvPr/>
        </p:nvSpPr>
        <p:spPr>
          <a:xfrm>
            <a:off x="777240" y="1655064"/>
            <a:ext cx="384048" cy="384048"/>
          </a:xfrm>
          <a:prstGeom prst="ellipse">
            <a:avLst/>
          </a:prstGeom>
          <a:solidFill>
            <a:srgbClr val="6D2E46"/>
          </a:solidFill>
          <a:ln w="12700">
            <a:solidFill>
              <a:srgbClr val="6D2E46"/>
            </a:solidFill>
            <a:prstDash val="solid"/>
          </a:ln>
        </p:spPr>
      </p:sp>
      <p:sp>
        <p:nvSpPr>
          <p:cNvPr id="5" name="Text 3"/>
          <p:cNvSpPr txBox="1"/>
          <p:nvPr/>
        </p:nvSpPr>
        <p:spPr>
          <a:xfrm>
            <a:off x="777240" y="1655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61872" y="1636776"/>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Application</a:t>
            </a:r>
            <a:endParaRPr lang="en-US" sz="1500" dirty="0"/>
          </a:p>
        </p:txBody>
      </p:sp>
      <p:sp>
        <p:nvSpPr>
          <p:cNvPr id="7" name="Text 5"/>
          <p:cNvSpPr txBox="1"/>
          <p:nvPr/>
        </p:nvSpPr>
        <p:spPr>
          <a:xfrm>
            <a:off x="786384" y="2130552"/>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FastAPI · Python 3.12 · React 18 + Vite</a:t>
            </a:r>
            <a:endParaRPr lang="en-US" sz="1150" dirty="0"/>
          </a:p>
        </p:txBody>
      </p:sp>
      <p:sp>
        <p:nvSpPr>
          <p:cNvPr id="8" name="Shape 6"/>
          <p:cNvSpPr/>
          <p:nvPr/>
        </p:nvSpPr>
        <p:spPr>
          <a:xfrm>
            <a:off x="4270248" y="1417320"/>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9" name="Shape 7"/>
          <p:cNvSpPr/>
          <p:nvPr/>
        </p:nvSpPr>
        <p:spPr>
          <a:xfrm>
            <a:off x="4498848" y="1655064"/>
            <a:ext cx="384048" cy="384048"/>
          </a:xfrm>
          <a:prstGeom prst="ellipse">
            <a:avLst/>
          </a:prstGeom>
          <a:solidFill>
            <a:srgbClr val="A26769"/>
          </a:solidFill>
          <a:ln w="12700">
            <a:solidFill>
              <a:srgbClr val="A26769"/>
            </a:solidFill>
            <a:prstDash val="solid"/>
          </a:ln>
        </p:spPr>
      </p:sp>
      <p:sp>
        <p:nvSpPr>
          <p:cNvPr id="10" name="Text 8"/>
          <p:cNvSpPr txBox="1"/>
          <p:nvPr/>
        </p:nvSpPr>
        <p:spPr>
          <a:xfrm>
            <a:off x="4498848" y="1655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4983480" y="1636776"/>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Data</a:t>
            </a:r>
            <a:endParaRPr lang="en-US" sz="1500" dirty="0"/>
          </a:p>
        </p:txBody>
      </p:sp>
      <p:sp>
        <p:nvSpPr>
          <p:cNvPr id="12" name="Text 10"/>
          <p:cNvSpPr txBox="1"/>
          <p:nvPr/>
        </p:nvSpPr>
        <p:spPr>
          <a:xfrm>
            <a:off x="4507992" y="2130552"/>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PostgreSQL 16 · SQLAlchemy 2 · Alembic</a:t>
            </a:r>
            <a:endParaRPr lang="en-US" sz="1150" dirty="0"/>
          </a:p>
        </p:txBody>
      </p:sp>
      <p:sp>
        <p:nvSpPr>
          <p:cNvPr id="13" name="Shape 11"/>
          <p:cNvSpPr/>
          <p:nvPr/>
        </p:nvSpPr>
        <p:spPr>
          <a:xfrm>
            <a:off x="7991856" y="1417320"/>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4" name="Shape 12"/>
          <p:cNvSpPr/>
          <p:nvPr/>
        </p:nvSpPr>
        <p:spPr>
          <a:xfrm>
            <a:off x="8220456" y="1655064"/>
            <a:ext cx="384048" cy="384048"/>
          </a:xfrm>
          <a:prstGeom prst="ellipse">
            <a:avLst/>
          </a:prstGeom>
          <a:solidFill>
            <a:srgbClr val="2E7D63"/>
          </a:solidFill>
          <a:ln w="12700">
            <a:solidFill>
              <a:srgbClr val="2E7D63"/>
            </a:solidFill>
            <a:prstDash val="solid"/>
          </a:ln>
        </p:spPr>
      </p:sp>
      <p:sp>
        <p:nvSpPr>
          <p:cNvPr id="15" name="Text 13"/>
          <p:cNvSpPr txBox="1"/>
          <p:nvPr/>
        </p:nvSpPr>
        <p:spPr>
          <a:xfrm>
            <a:off x="8220456" y="1655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8705088" y="1636776"/>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Tests</a:t>
            </a:r>
            <a:endParaRPr lang="en-US" sz="1500" dirty="0"/>
          </a:p>
        </p:txBody>
      </p:sp>
      <p:sp>
        <p:nvSpPr>
          <p:cNvPr id="17" name="Text 15"/>
          <p:cNvSpPr txBox="1"/>
          <p:nvPr/>
        </p:nvSpPr>
        <p:spPr>
          <a:xfrm>
            <a:off x="8229600" y="2130552"/>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pytest · flake8 · SQLite test database</a:t>
            </a:r>
            <a:endParaRPr lang="en-US" sz="1150" dirty="0"/>
          </a:p>
        </p:txBody>
      </p:sp>
      <p:sp>
        <p:nvSpPr>
          <p:cNvPr id="18" name="Shape 16"/>
          <p:cNvSpPr/>
          <p:nvPr/>
        </p:nvSpPr>
        <p:spPr>
          <a:xfrm>
            <a:off x="548640" y="2990088"/>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9" name="Shape 17"/>
          <p:cNvSpPr/>
          <p:nvPr/>
        </p:nvSpPr>
        <p:spPr>
          <a:xfrm>
            <a:off x="777240" y="3227832"/>
            <a:ext cx="384048" cy="384048"/>
          </a:xfrm>
          <a:prstGeom prst="ellipse">
            <a:avLst/>
          </a:prstGeom>
          <a:solidFill>
            <a:srgbClr val="3F5E7A"/>
          </a:solidFill>
          <a:ln w="12700">
            <a:solidFill>
              <a:srgbClr val="3F5E7A"/>
            </a:solidFill>
            <a:prstDash val="solid"/>
          </a:ln>
        </p:spPr>
      </p:sp>
      <p:sp>
        <p:nvSpPr>
          <p:cNvPr id="20" name="Text 18"/>
          <p:cNvSpPr txBox="1"/>
          <p:nvPr/>
        </p:nvSpPr>
        <p:spPr>
          <a:xfrm>
            <a:off x="777240" y="3227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1261872" y="3209544"/>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Containers</a:t>
            </a:r>
            <a:endParaRPr lang="en-US" sz="1500" dirty="0"/>
          </a:p>
        </p:txBody>
      </p:sp>
      <p:sp>
        <p:nvSpPr>
          <p:cNvPr id="22" name="Text 20"/>
          <p:cNvSpPr txBox="1"/>
          <p:nvPr/>
        </p:nvSpPr>
        <p:spPr>
          <a:xfrm>
            <a:off x="786384" y="3703320"/>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Docker · multi-stage · nginx-unprivileged</a:t>
            </a:r>
            <a:endParaRPr lang="en-US" sz="1150" dirty="0"/>
          </a:p>
        </p:txBody>
      </p:sp>
      <p:sp>
        <p:nvSpPr>
          <p:cNvPr id="23" name="Shape 21"/>
          <p:cNvSpPr/>
          <p:nvPr/>
        </p:nvSpPr>
        <p:spPr>
          <a:xfrm>
            <a:off x="4270248" y="2990088"/>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4" name="Shape 22"/>
          <p:cNvSpPr/>
          <p:nvPr/>
        </p:nvSpPr>
        <p:spPr>
          <a:xfrm>
            <a:off x="4498848" y="3227832"/>
            <a:ext cx="384048" cy="384048"/>
          </a:xfrm>
          <a:prstGeom prst="ellipse">
            <a:avLst/>
          </a:prstGeom>
          <a:solidFill>
            <a:srgbClr val="6D2E46"/>
          </a:solidFill>
          <a:ln w="12700">
            <a:solidFill>
              <a:srgbClr val="6D2E46"/>
            </a:solidFill>
            <a:prstDash val="solid"/>
          </a:ln>
        </p:spPr>
      </p:sp>
      <p:sp>
        <p:nvSpPr>
          <p:cNvPr id="25" name="Text 23"/>
          <p:cNvSpPr txBox="1"/>
          <p:nvPr/>
        </p:nvSpPr>
        <p:spPr>
          <a:xfrm>
            <a:off x="4498848" y="3227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4"/>
          <p:cNvSpPr txBox="1"/>
          <p:nvPr/>
        </p:nvSpPr>
        <p:spPr>
          <a:xfrm>
            <a:off x="4983480" y="3209544"/>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CI/CD</a:t>
            </a:r>
            <a:endParaRPr lang="en-US" sz="1500" dirty="0"/>
          </a:p>
        </p:txBody>
      </p:sp>
      <p:sp>
        <p:nvSpPr>
          <p:cNvPr id="27" name="Text 25"/>
          <p:cNvSpPr txBox="1"/>
          <p:nvPr/>
        </p:nvSpPr>
        <p:spPr>
          <a:xfrm>
            <a:off x="4507992" y="3703320"/>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GitHub Actions · GHCR · SHA image tags</a:t>
            </a:r>
            <a:endParaRPr lang="en-US" sz="1150" dirty="0"/>
          </a:p>
        </p:txBody>
      </p:sp>
      <p:sp>
        <p:nvSpPr>
          <p:cNvPr id="28" name="Shape 26"/>
          <p:cNvSpPr/>
          <p:nvPr/>
        </p:nvSpPr>
        <p:spPr>
          <a:xfrm>
            <a:off x="7991856" y="2990088"/>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9" name="Shape 27"/>
          <p:cNvSpPr/>
          <p:nvPr/>
        </p:nvSpPr>
        <p:spPr>
          <a:xfrm>
            <a:off x="8220456" y="3227832"/>
            <a:ext cx="384048" cy="384048"/>
          </a:xfrm>
          <a:prstGeom prst="ellipse">
            <a:avLst/>
          </a:prstGeom>
          <a:solidFill>
            <a:srgbClr val="B07D2B"/>
          </a:solidFill>
          <a:ln w="12700">
            <a:solidFill>
              <a:srgbClr val="B07D2B"/>
            </a:solidFill>
            <a:prstDash val="solid"/>
          </a:ln>
        </p:spPr>
      </p:sp>
      <p:sp>
        <p:nvSpPr>
          <p:cNvPr id="30" name="Text 28"/>
          <p:cNvSpPr txBox="1"/>
          <p:nvPr/>
        </p:nvSpPr>
        <p:spPr>
          <a:xfrm>
            <a:off x="8220456" y="3227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1" name="Text 29"/>
          <p:cNvSpPr txBox="1"/>
          <p:nvPr/>
        </p:nvSpPr>
        <p:spPr>
          <a:xfrm>
            <a:off x="8705088" y="3209544"/>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Security</a:t>
            </a:r>
            <a:endParaRPr lang="en-US" sz="1500" dirty="0"/>
          </a:p>
        </p:txBody>
      </p:sp>
      <p:sp>
        <p:nvSpPr>
          <p:cNvPr id="32" name="Text 30"/>
          <p:cNvSpPr txBox="1"/>
          <p:nvPr/>
        </p:nvSpPr>
        <p:spPr>
          <a:xfrm>
            <a:off x="8229600" y="3703320"/>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Trivy report + blocking gate</a:t>
            </a:r>
            <a:endParaRPr lang="en-US" sz="1150" dirty="0"/>
          </a:p>
        </p:txBody>
      </p:sp>
      <p:sp>
        <p:nvSpPr>
          <p:cNvPr id="33" name="Shape 31"/>
          <p:cNvSpPr/>
          <p:nvPr/>
        </p:nvSpPr>
        <p:spPr>
          <a:xfrm>
            <a:off x="548640" y="4562856"/>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34" name="Shape 32"/>
          <p:cNvSpPr/>
          <p:nvPr/>
        </p:nvSpPr>
        <p:spPr>
          <a:xfrm>
            <a:off x="777240" y="4800600"/>
            <a:ext cx="384048" cy="384048"/>
          </a:xfrm>
          <a:prstGeom prst="ellipse">
            <a:avLst/>
          </a:prstGeom>
          <a:solidFill>
            <a:srgbClr val="3F5E7A"/>
          </a:solidFill>
          <a:ln w="12700">
            <a:solidFill>
              <a:srgbClr val="3F5E7A"/>
            </a:solidFill>
            <a:prstDash val="solid"/>
          </a:ln>
        </p:spPr>
      </p:sp>
      <p:sp>
        <p:nvSpPr>
          <p:cNvPr id="35" name="Text 33"/>
          <p:cNvSpPr txBox="1"/>
          <p:nvPr/>
        </p:nvSpPr>
        <p:spPr>
          <a:xfrm>
            <a:off x="777240" y="4800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36" name="Text 34"/>
          <p:cNvSpPr txBox="1"/>
          <p:nvPr/>
        </p:nvSpPr>
        <p:spPr>
          <a:xfrm>
            <a:off x="1261872" y="4782312"/>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Infrastructure</a:t>
            </a:r>
            <a:endParaRPr lang="en-US" sz="1500" dirty="0"/>
          </a:p>
        </p:txBody>
      </p:sp>
      <p:sp>
        <p:nvSpPr>
          <p:cNvPr id="37" name="Text 35"/>
          <p:cNvSpPr txBox="1"/>
          <p:nvPr/>
        </p:nvSpPr>
        <p:spPr>
          <a:xfrm>
            <a:off x="786384" y="5276088"/>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Terraform · AWS VPC + EKS</a:t>
            </a:r>
            <a:endParaRPr lang="en-US" sz="1150" dirty="0"/>
          </a:p>
        </p:txBody>
      </p:sp>
      <p:sp>
        <p:nvSpPr>
          <p:cNvPr id="38" name="Shape 36"/>
          <p:cNvSpPr/>
          <p:nvPr/>
        </p:nvSpPr>
        <p:spPr>
          <a:xfrm>
            <a:off x="4270248" y="4562856"/>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39" name="Shape 37"/>
          <p:cNvSpPr/>
          <p:nvPr/>
        </p:nvSpPr>
        <p:spPr>
          <a:xfrm>
            <a:off x="4498848" y="4800600"/>
            <a:ext cx="384048" cy="384048"/>
          </a:xfrm>
          <a:prstGeom prst="ellipse">
            <a:avLst/>
          </a:prstGeom>
          <a:solidFill>
            <a:srgbClr val="A26769"/>
          </a:solidFill>
          <a:ln w="12700">
            <a:solidFill>
              <a:srgbClr val="A26769"/>
            </a:solidFill>
            <a:prstDash val="solid"/>
          </a:ln>
        </p:spPr>
      </p:sp>
      <p:sp>
        <p:nvSpPr>
          <p:cNvPr id="40" name="Text 38"/>
          <p:cNvSpPr txBox="1"/>
          <p:nvPr/>
        </p:nvSpPr>
        <p:spPr>
          <a:xfrm>
            <a:off x="4498848" y="4800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41" name="Text 39"/>
          <p:cNvSpPr txBox="1"/>
          <p:nvPr/>
        </p:nvSpPr>
        <p:spPr>
          <a:xfrm>
            <a:off x="4983480" y="4782312"/>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Platform</a:t>
            </a:r>
            <a:endParaRPr lang="en-US" sz="1500" dirty="0"/>
          </a:p>
        </p:txBody>
      </p:sp>
      <p:sp>
        <p:nvSpPr>
          <p:cNvPr id="42" name="Text 40"/>
          <p:cNvSpPr txBox="1"/>
          <p:nvPr/>
        </p:nvSpPr>
        <p:spPr>
          <a:xfrm>
            <a:off x="4507992" y="5276088"/>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Kubernetes · Helm · Ingress · HPA</a:t>
            </a:r>
            <a:endParaRPr lang="en-US" sz="1150" dirty="0"/>
          </a:p>
        </p:txBody>
      </p:sp>
      <p:sp>
        <p:nvSpPr>
          <p:cNvPr id="43" name="Shape 41"/>
          <p:cNvSpPr/>
          <p:nvPr/>
        </p:nvSpPr>
        <p:spPr>
          <a:xfrm>
            <a:off x="7991856" y="4562856"/>
            <a:ext cx="3474720" cy="1371600"/>
          </a:xfrm>
          <a:prstGeom prst="roundRect">
            <a:avLst>
              <a:gd name="adj" fmla="val 5333"/>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44" name="Shape 42"/>
          <p:cNvSpPr/>
          <p:nvPr/>
        </p:nvSpPr>
        <p:spPr>
          <a:xfrm>
            <a:off x="8220456" y="4800600"/>
            <a:ext cx="384048" cy="384048"/>
          </a:xfrm>
          <a:prstGeom prst="ellipse">
            <a:avLst/>
          </a:prstGeom>
          <a:solidFill>
            <a:srgbClr val="2E7D63"/>
          </a:solidFill>
          <a:ln w="12700">
            <a:solidFill>
              <a:srgbClr val="2E7D63"/>
            </a:solidFill>
            <a:prstDash val="solid"/>
          </a:ln>
        </p:spPr>
      </p:sp>
      <p:sp>
        <p:nvSpPr>
          <p:cNvPr id="45" name="Text 43"/>
          <p:cNvSpPr txBox="1"/>
          <p:nvPr/>
        </p:nvSpPr>
        <p:spPr>
          <a:xfrm>
            <a:off x="8220456" y="4800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46" name="Text 44"/>
          <p:cNvSpPr txBox="1"/>
          <p:nvPr/>
        </p:nvSpPr>
        <p:spPr>
          <a:xfrm>
            <a:off x="8705088" y="4782312"/>
            <a:ext cx="2651760" cy="365760"/>
          </a:xfrm>
          <a:prstGeom prst="rect">
            <a:avLst/>
          </a:prstGeom>
          <a:noFill/>
          <a:ln/>
        </p:spPr>
        <p:txBody>
          <a:bodyPr wrap="square" lIns="0" tIns="0" rIns="0" bIns="0" rtlCol="0" anchor="ctr"/>
          <a:lstStyle/>
          <a:p>
            <a:pPr indent="0" marL="0">
              <a:buNone/>
            </a:pPr>
            <a:r>
              <a:rPr lang="en-US" sz="1500" b="1" dirty="0">
                <a:solidFill>
                  <a:schemeClr val="tx2"/>
                </a:solidFill>
              </a:rPr>
              <a:t>Observability</a:t>
            </a:r>
            <a:endParaRPr lang="en-US" sz="1500" dirty="0"/>
          </a:p>
        </p:txBody>
      </p:sp>
      <p:sp>
        <p:nvSpPr>
          <p:cNvPr id="47" name="Text 45"/>
          <p:cNvSpPr txBox="1"/>
          <p:nvPr/>
        </p:nvSpPr>
        <p:spPr>
          <a:xfrm>
            <a:off x="8229600" y="5276088"/>
            <a:ext cx="3017520" cy="548640"/>
          </a:xfrm>
          <a:prstGeom prst="rect">
            <a:avLst/>
          </a:prstGeom>
          <a:noFill/>
          <a:ln/>
        </p:spPr>
        <p:txBody>
          <a:bodyPr wrap="square" lIns="0" tIns="0" rIns="0" bIns="0" rtlCol="0" anchor="ctr"/>
          <a:lstStyle/>
          <a:p>
            <a:pPr indent="0" marL="0">
              <a:lnSpc>
                <a:spcPts val="1600"/>
              </a:lnSpc>
              <a:buNone/>
            </a:pPr>
            <a:r>
              <a:rPr lang="en-US" sz="1150" dirty="0">
                <a:solidFill>
                  <a:srgbClr val="6E5C62"/>
                </a:solidFill>
              </a:rPr>
              <a:t>Prometheus · Grafana · /metrics</a:t>
            </a:r>
            <a:endParaRPr lang="en-US" sz="115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Architecture</a:t>
            </a:r>
            <a:endParaRPr lang="en-US" sz="3200" dirty="0"/>
          </a:p>
        </p:txBody>
      </p:sp>
      <p:sp>
        <p:nvSpPr>
          <p:cNvPr id="3" name="Shape 1"/>
          <p:cNvSpPr/>
          <p:nvPr/>
        </p:nvSpPr>
        <p:spPr>
          <a:xfrm>
            <a:off x="2514600" y="1600200"/>
            <a:ext cx="9098280" cy="3200400"/>
          </a:xfrm>
          <a:prstGeom prst="roundRect">
            <a:avLst>
              <a:gd name="adj" fmla="val 1714"/>
            </a:avLst>
          </a:prstGeom>
          <a:solidFill>
            <a:srgbClr val="FBF8F9"/>
          </a:solidFill>
          <a:ln w="12700">
            <a:solidFill>
              <a:srgbClr val="A26769"/>
            </a:solidFill>
            <a:prstDash val="dash"/>
          </a:ln>
        </p:spPr>
      </p:sp>
      <p:sp>
        <p:nvSpPr>
          <p:cNvPr id="4" name="Text 2"/>
          <p:cNvSpPr txBox="1"/>
          <p:nvPr/>
        </p:nvSpPr>
        <p:spPr>
          <a:xfrm>
            <a:off x="2697480" y="1691640"/>
            <a:ext cx="4572000" cy="274320"/>
          </a:xfrm>
          <a:prstGeom prst="rect">
            <a:avLst/>
          </a:prstGeom>
          <a:noFill/>
          <a:ln/>
        </p:spPr>
        <p:txBody>
          <a:bodyPr wrap="square" lIns="0" tIns="0" rIns="0" bIns="0" rtlCol="0" anchor="ctr"/>
          <a:lstStyle/>
          <a:p>
            <a:pPr indent="0" marL="0">
              <a:buNone/>
            </a:pPr>
            <a:r>
              <a:rPr lang="en-US" sz="1100" b="1" dirty="0">
                <a:solidFill>
                  <a:srgbClr val="A26769"/>
                </a:solidFill>
              </a:rPr>
              <a:t>Kubernetes namespace: bookshelf</a:t>
            </a:r>
            <a:endParaRPr lang="en-US" sz="1100" dirty="0"/>
          </a:p>
        </p:txBody>
      </p:sp>
      <p:sp>
        <p:nvSpPr>
          <p:cNvPr id="5" name="Shape 3"/>
          <p:cNvSpPr/>
          <p:nvPr/>
        </p:nvSpPr>
        <p:spPr>
          <a:xfrm>
            <a:off x="548640" y="2377440"/>
            <a:ext cx="1691640" cy="1051560"/>
          </a:xfrm>
          <a:prstGeom prst="roundRect">
            <a:avLst>
              <a:gd name="adj" fmla="val 6957"/>
            </a:avLst>
          </a:prstGeom>
          <a:solidFill>
            <a:srgbClr val="FFFFFF"/>
          </a:solidFill>
          <a:ln w="19050">
            <a:solidFill>
              <a:srgbClr val="8A8178"/>
            </a:solidFill>
            <a:prstDash val="solid"/>
          </a:ln>
        </p:spPr>
      </p:sp>
      <p:sp>
        <p:nvSpPr>
          <p:cNvPr id="6" name="Text 4"/>
          <p:cNvSpPr txBox="1"/>
          <p:nvPr/>
        </p:nvSpPr>
        <p:spPr>
          <a:xfrm>
            <a:off x="658368" y="2542032"/>
            <a:ext cx="1472184" cy="310896"/>
          </a:xfrm>
          <a:prstGeom prst="rect">
            <a:avLst/>
          </a:prstGeom>
          <a:noFill/>
          <a:ln/>
        </p:spPr>
        <p:txBody>
          <a:bodyPr wrap="square" lIns="0" tIns="0" rIns="0" bIns="0" rtlCol="0" anchor="ctr"/>
          <a:lstStyle/>
          <a:p>
            <a:pPr algn="ctr" indent="0" marL="0">
              <a:buNone/>
            </a:pPr>
            <a:r>
              <a:rPr lang="en-US" sz="1350" b="1" dirty="0">
                <a:solidFill>
                  <a:srgbClr val="8A8178"/>
                </a:solidFill>
              </a:rPr>
              <a:t>Browser</a:t>
            </a:r>
            <a:endParaRPr lang="en-US" sz="1350" dirty="0"/>
          </a:p>
        </p:txBody>
      </p:sp>
      <p:sp>
        <p:nvSpPr>
          <p:cNvPr id="7" name="Text 5"/>
          <p:cNvSpPr txBox="1"/>
          <p:nvPr/>
        </p:nvSpPr>
        <p:spPr>
          <a:xfrm>
            <a:off x="658368" y="2880360"/>
            <a:ext cx="1472184" cy="457200"/>
          </a:xfrm>
          <a:prstGeom prst="rect">
            <a:avLst/>
          </a:prstGeom>
          <a:noFill/>
          <a:ln/>
        </p:spPr>
        <p:txBody>
          <a:bodyPr wrap="square" lIns="0" tIns="0" rIns="0" bIns="0" rtlCol="0" anchor="ctr"/>
          <a:lstStyle/>
          <a:p>
            <a:pPr algn="ctr" indent="0" marL="0">
              <a:lnSpc>
                <a:spcPts val="1400"/>
              </a:lnSpc>
              <a:buNone/>
            </a:pPr>
            <a:r>
              <a:rPr lang="en-US" sz="1050" dirty="0">
                <a:solidFill>
                  <a:srgbClr val="6E5C62"/>
                </a:solidFill>
              </a:rPr>
              <a:t>the user</a:t>
            </a:r>
            <a:endParaRPr lang="en-US" sz="1050" dirty="0"/>
          </a:p>
        </p:txBody>
      </p:sp>
      <p:sp>
        <p:nvSpPr>
          <p:cNvPr id="8" name="Shape 6"/>
          <p:cNvSpPr/>
          <p:nvPr/>
        </p:nvSpPr>
        <p:spPr>
          <a:xfrm>
            <a:off x="2834640" y="2377440"/>
            <a:ext cx="1828800" cy="1051560"/>
          </a:xfrm>
          <a:prstGeom prst="roundRect">
            <a:avLst>
              <a:gd name="adj" fmla="val 6957"/>
            </a:avLst>
          </a:prstGeom>
          <a:solidFill>
            <a:srgbClr val="FFFFFF"/>
          </a:solidFill>
          <a:ln w="19050">
            <a:solidFill>
              <a:srgbClr val="6D2E46"/>
            </a:solidFill>
            <a:prstDash val="solid"/>
          </a:ln>
        </p:spPr>
      </p:sp>
      <p:sp>
        <p:nvSpPr>
          <p:cNvPr id="9" name="Text 7"/>
          <p:cNvSpPr txBox="1"/>
          <p:nvPr/>
        </p:nvSpPr>
        <p:spPr>
          <a:xfrm>
            <a:off x="2944368" y="2542032"/>
            <a:ext cx="1609344" cy="310896"/>
          </a:xfrm>
          <a:prstGeom prst="rect">
            <a:avLst/>
          </a:prstGeom>
          <a:noFill/>
          <a:ln/>
        </p:spPr>
        <p:txBody>
          <a:bodyPr wrap="square" lIns="0" tIns="0" rIns="0" bIns="0" rtlCol="0" anchor="ctr"/>
          <a:lstStyle/>
          <a:p>
            <a:pPr algn="ctr" indent="0" marL="0">
              <a:buNone/>
            </a:pPr>
            <a:r>
              <a:rPr lang="en-US" sz="1350" b="1" dirty="0">
                <a:solidFill>
                  <a:srgbClr val="6D2E46"/>
                </a:solidFill>
              </a:rPr>
              <a:t>Ingress</a:t>
            </a:r>
            <a:endParaRPr lang="en-US" sz="1350" dirty="0"/>
          </a:p>
        </p:txBody>
      </p:sp>
      <p:sp>
        <p:nvSpPr>
          <p:cNvPr id="10" name="Text 8"/>
          <p:cNvSpPr txBox="1"/>
          <p:nvPr/>
        </p:nvSpPr>
        <p:spPr>
          <a:xfrm>
            <a:off x="2944368" y="2880360"/>
            <a:ext cx="1609344" cy="457200"/>
          </a:xfrm>
          <a:prstGeom prst="rect">
            <a:avLst/>
          </a:prstGeom>
          <a:noFill/>
          <a:ln/>
        </p:spPr>
        <p:txBody>
          <a:bodyPr wrap="square" lIns="0" tIns="0" rIns="0" bIns="0" rtlCol="0" anchor="ctr"/>
          <a:lstStyle/>
          <a:p>
            <a:pPr algn="ctr" indent="0" marL="0">
              <a:lnSpc>
                <a:spcPts val="1400"/>
              </a:lnSpc>
              <a:buNone/>
            </a:pPr>
            <a:r>
              <a:rPr lang="en-US" sz="1050" dirty="0">
                <a:solidFill>
                  <a:srgbClr val="6E5C62"/>
                </a:solidFill>
              </a:rPr>
              <a:t>nginx class</a:t>
            </a:r>
            <a:endParaRPr lang="en-US" sz="1050" dirty="0"/>
          </a:p>
        </p:txBody>
      </p:sp>
      <p:sp>
        <p:nvSpPr>
          <p:cNvPr id="11" name="Shape 9"/>
          <p:cNvSpPr/>
          <p:nvPr/>
        </p:nvSpPr>
        <p:spPr>
          <a:xfrm>
            <a:off x="5120640" y="2377440"/>
            <a:ext cx="1920240" cy="1051560"/>
          </a:xfrm>
          <a:prstGeom prst="roundRect">
            <a:avLst>
              <a:gd name="adj" fmla="val 6957"/>
            </a:avLst>
          </a:prstGeom>
          <a:solidFill>
            <a:srgbClr val="FFFFFF"/>
          </a:solidFill>
          <a:ln w="19050">
            <a:solidFill>
              <a:srgbClr val="3F5E7A"/>
            </a:solidFill>
            <a:prstDash val="solid"/>
          </a:ln>
        </p:spPr>
      </p:sp>
      <p:sp>
        <p:nvSpPr>
          <p:cNvPr id="12" name="Text 10"/>
          <p:cNvSpPr txBox="1"/>
          <p:nvPr/>
        </p:nvSpPr>
        <p:spPr>
          <a:xfrm>
            <a:off x="5230368" y="2542032"/>
            <a:ext cx="1700784" cy="310896"/>
          </a:xfrm>
          <a:prstGeom prst="rect">
            <a:avLst/>
          </a:prstGeom>
          <a:noFill/>
          <a:ln/>
        </p:spPr>
        <p:txBody>
          <a:bodyPr wrap="square" lIns="0" tIns="0" rIns="0" bIns="0" rtlCol="0" anchor="ctr"/>
          <a:lstStyle/>
          <a:p>
            <a:pPr algn="ctr" indent="0" marL="0">
              <a:buNone/>
            </a:pPr>
            <a:r>
              <a:rPr lang="en-US" sz="1350" b="1" dirty="0">
                <a:solidFill>
                  <a:srgbClr val="3F5E7A"/>
                </a:solidFill>
              </a:rPr>
              <a:t>Frontend</a:t>
            </a:r>
            <a:endParaRPr lang="en-US" sz="1350" dirty="0"/>
          </a:p>
        </p:txBody>
      </p:sp>
      <p:sp>
        <p:nvSpPr>
          <p:cNvPr id="13" name="Text 11"/>
          <p:cNvSpPr txBox="1"/>
          <p:nvPr/>
        </p:nvSpPr>
        <p:spPr>
          <a:xfrm>
            <a:off x="5230368" y="2880360"/>
            <a:ext cx="1700784" cy="457200"/>
          </a:xfrm>
          <a:prstGeom prst="rect">
            <a:avLst/>
          </a:prstGeom>
          <a:noFill/>
          <a:ln/>
        </p:spPr>
        <p:txBody>
          <a:bodyPr wrap="square" lIns="0" tIns="0" rIns="0" bIns="0" rtlCol="0" anchor="ctr"/>
          <a:lstStyle/>
          <a:p>
            <a:pPr algn="ctr" indent="0" marL="0">
              <a:lnSpc>
                <a:spcPts val="1400"/>
              </a:lnSpc>
              <a:buNone/>
            </a:pPr>
            <a:r>
              <a:rPr lang="en-US" sz="1050" dirty="0">
                <a:solidFill>
                  <a:srgbClr val="6E5C62"/>
                </a:solidFill>
              </a:rPr>
              <a:t>React build</a:t>
            </a:r>
            <a:endParaRPr lang="en-US" sz="1050" dirty="0"/>
          </a:p>
          <a:p>
            <a:pPr algn="ctr" indent="0" marL="0">
              <a:lnSpc>
                <a:spcPts val="1400"/>
              </a:lnSpc>
              <a:buNone/>
            </a:pPr>
            <a:r>
              <a:rPr lang="en-US" sz="1050" dirty="0">
                <a:solidFill>
                  <a:srgbClr val="6E5C62"/>
                </a:solidFill>
              </a:rPr>
              <a:t>served by nginx</a:t>
            </a:r>
            <a:endParaRPr lang="en-US" sz="1050" dirty="0"/>
          </a:p>
        </p:txBody>
      </p:sp>
      <p:sp>
        <p:nvSpPr>
          <p:cNvPr id="14" name="Shape 12"/>
          <p:cNvSpPr/>
          <p:nvPr/>
        </p:nvSpPr>
        <p:spPr>
          <a:xfrm>
            <a:off x="7498080" y="2377440"/>
            <a:ext cx="1920240" cy="1051560"/>
          </a:xfrm>
          <a:prstGeom prst="roundRect">
            <a:avLst>
              <a:gd name="adj" fmla="val 6957"/>
            </a:avLst>
          </a:prstGeom>
          <a:solidFill>
            <a:srgbClr val="FFFFFF"/>
          </a:solidFill>
          <a:ln w="19050">
            <a:solidFill>
              <a:srgbClr val="2E7D63"/>
            </a:solidFill>
            <a:prstDash val="solid"/>
          </a:ln>
        </p:spPr>
      </p:sp>
      <p:sp>
        <p:nvSpPr>
          <p:cNvPr id="15" name="Text 13"/>
          <p:cNvSpPr txBox="1"/>
          <p:nvPr/>
        </p:nvSpPr>
        <p:spPr>
          <a:xfrm>
            <a:off x="7607808" y="2542032"/>
            <a:ext cx="1700784" cy="310896"/>
          </a:xfrm>
          <a:prstGeom prst="rect">
            <a:avLst/>
          </a:prstGeom>
          <a:noFill/>
          <a:ln/>
        </p:spPr>
        <p:txBody>
          <a:bodyPr wrap="square" lIns="0" tIns="0" rIns="0" bIns="0" rtlCol="0" anchor="ctr"/>
          <a:lstStyle/>
          <a:p>
            <a:pPr algn="ctr" indent="0" marL="0">
              <a:buNone/>
            </a:pPr>
            <a:r>
              <a:rPr lang="en-US" sz="1350" b="1" dirty="0">
                <a:solidFill>
                  <a:srgbClr val="2E7D63"/>
                </a:solidFill>
              </a:rPr>
              <a:t>Backend</a:t>
            </a:r>
            <a:endParaRPr lang="en-US" sz="1350" dirty="0"/>
          </a:p>
        </p:txBody>
      </p:sp>
      <p:sp>
        <p:nvSpPr>
          <p:cNvPr id="16" name="Text 14"/>
          <p:cNvSpPr txBox="1"/>
          <p:nvPr/>
        </p:nvSpPr>
        <p:spPr>
          <a:xfrm>
            <a:off x="7607808" y="2880360"/>
            <a:ext cx="1700784" cy="457200"/>
          </a:xfrm>
          <a:prstGeom prst="rect">
            <a:avLst/>
          </a:prstGeom>
          <a:noFill/>
          <a:ln/>
        </p:spPr>
        <p:txBody>
          <a:bodyPr wrap="square" lIns="0" tIns="0" rIns="0" bIns="0" rtlCol="0" anchor="ctr"/>
          <a:lstStyle/>
          <a:p>
            <a:pPr algn="ctr" indent="0" marL="0">
              <a:lnSpc>
                <a:spcPts val="1400"/>
              </a:lnSpc>
              <a:buNone/>
            </a:pPr>
            <a:r>
              <a:rPr lang="en-US" sz="1050" dirty="0">
                <a:solidFill>
                  <a:srgbClr val="6E5C62"/>
                </a:solidFill>
              </a:rPr>
              <a:t>FastAPI</a:t>
            </a:r>
            <a:endParaRPr lang="en-US" sz="1050" dirty="0"/>
          </a:p>
          <a:p>
            <a:pPr algn="ctr" indent="0" marL="0">
              <a:lnSpc>
                <a:spcPts val="1400"/>
              </a:lnSpc>
              <a:buNone/>
            </a:pPr>
            <a:r>
              <a:rPr lang="en-US" sz="1050" dirty="0">
                <a:solidFill>
                  <a:srgbClr val="6E5C62"/>
                </a:solidFill>
              </a:rPr>
              <a:t>2 replicas</a:t>
            </a:r>
            <a:endParaRPr lang="en-US" sz="1050" dirty="0"/>
          </a:p>
        </p:txBody>
      </p:sp>
      <p:sp>
        <p:nvSpPr>
          <p:cNvPr id="17" name="Shape 15"/>
          <p:cNvSpPr/>
          <p:nvPr/>
        </p:nvSpPr>
        <p:spPr>
          <a:xfrm>
            <a:off x="9875520" y="2377440"/>
            <a:ext cx="1600200" cy="1051560"/>
          </a:xfrm>
          <a:prstGeom prst="roundRect">
            <a:avLst>
              <a:gd name="adj" fmla="val 6957"/>
            </a:avLst>
          </a:prstGeom>
          <a:solidFill>
            <a:srgbClr val="FFFFFF"/>
          </a:solidFill>
          <a:ln w="19050">
            <a:solidFill>
              <a:srgbClr val="B07D2B"/>
            </a:solidFill>
            <a:prstDash val="solid"/>
          </a:ln>
        </p:spPr>
      </p:sp>
      <p:sp>
        <p:nvSpPr>
          <p:cNvPr id="18" name="Text 16"/>
          <p:cNvSpPr txBox="1"/>
          <p:nvPr/>
        </p:nvSpPr>
        <p:spPr>
          <a:xfrm>
            <a:off x="9985248" y="2542032"/>
            <a:ext cx="1380744" cy="310896"/>
          </a:xfrm>
          <a:prstGeom prst="rect">
            <a:avLst/>
          </a:prstGeom>
          <a:noFill/>
          <a:ln/>
        </p:spPr>
        <p:txBody>
          <a:bodyPr wrap="square" lIns="0" tIns="0" rIns="0" bIns="0" rtlCol="0" anchor="ctr"/>
          <a:lstStyle/>
          <a:p>
            <a:pPr algn="ctr" indent="0" marL="0">
              <a:buNone/>
            </a:pPr>
            <a:r>
              <a:rPr lang="en-US" sz="1350" b="1" dirty="0">
                <a:solidFill>
                  <a:srgbClr val="B07D2B"/>
                </a:solidFill>
              </a:rPr>
              <a:t>Postgres</a:t>
            </a:r>
            <a:endParaRPr lang="en-US" sz="1350" dirty="0"/>
          </a:p>
        </p:txBody>
      </p:sp>
      <p:sp>
        <p:nvSpPr>
          <p:cNvPr id="19" name="Text 17"/>
          <p:cNvSpPr txBox="1"/>
          <p:nvPr/>
        </p:nvSpPr>
        <p:spPr>
          <a:xfrm>
            <a:off x="9985248" y="2880360"/>
            <a:ext cx="1380744" cy="457200"/>
          </a:xfrm>
          <a:prstGeom prst="rect">
            <a:avLst/>
          </a:prstGeom>
          <a:noFill/>
          <a:ln/>
        </p:spPr>
        <p:txBody>
          <a:bodyPr wrap="square" lIns="0" tIns="0" rIns="0" bIns="0" rtlCol="0" anchor="ctr"/>
          <a:lstStyle/>
          <a:p>
            <a:pPr algn="ctr" indent="0" marL="0">
              <a:lnSpc>
                <a:spcPts val="1400"/>
              </a:lnSpc>
              <a:buNone/>
            </a:pPr>
            <a:r>
              <a:rPr lang="en-US" sz="1050" dirty="0">
                <a:solidFill>
                  <a:srgbClr val="6E5C62"/>
                </a:solidFill>
              </a:rPr>
              <a:t>PVC</a:t>
            </a:r>
            <a:endParaRPr lang="en-US" sz="1050" dirty="0"/>
          </a:p>
        </p:txBody>
      </p:sp>
      <p:sp>
        <p:nvSpPr>
          <p:cNvPr id="20" name="Shape 18"/>
          <p:cNvSpPr/>
          <p:nvPr/>
        </p:nvSpPr>
        <p:spPr>
          <a:xfrm>
            <a:off x="2267712" y="2852928"/>
            <a:ext cx="548640" cy="146304"/>
          </a:xfrm>
          <a:prstGeom prst="rightArrow">
            <a:avLst/>
          </a:prstGeom>
          <a:solidFill>
            <a:srgbClr val="C4B2B8"/>
          </a:solidFill>
          <a:ln w="12700">
            <a:solidFill>
              <a:srgbClr val="C4B2B8"/>
            </a:solidFill>
            <a:prstDash val="solid"/>
          </a:ln>
        </p:spPr>
      </p:sp>
      <p:sp>
        <p:nvSpPr>
          <p:cNvPr id="21" name="Shape 19"/>
          <p:cNvSpPr/>
          <p:nvPr/>
        </p:nvSpPr>
        <p:spPr>
          <a:xfrm>
            <a:off x="4690872" y="2852928"/>
            <a:ext cx="548640" cy="146304"/>
          </a:xfrm>
          <a:prstGeom prst="rightArrow">
            <a:avLst/>
          </a:prstGeom>
          <a:solidFill>
            <a:srgbClr val="C4B2B8"/>
          </a:solidFill>
          <a:ln w="12700">
            <a:solidFill>
              <a:srgbClr val="C4B2B8"/>
            </a:solidFill>
            <a:prstDash val="solid"/>
          </a:ln>
        </p:spPr>
      </p:sp>
      <p:sp>
        <p:nvSpPr>
          <p:cNvPr id="22" name="Shape 20"/>
          <p:cNvSpPr/>
          <p:nvPr/>
        </p:nvSpPr>
        <p:spPr>
          <a:xfrm>
            <a:off x="7068312" y="2852928"/>
            <a:ext cx="548640" cy="146304"/>
          </a:xfrm>
          <a:prstGeom prst="rightArrow">
            <a:avLst/>
          </a:prstGeom>
          <a:solidFill>
            <a:srgbClr val="C4B2B8"/>
          </a:solidFill>
          <a:ln w="12700">
            <a:solidFill>
              <a:srgbClr val="C4B2B8"/>
            </a:solidFill>
            <a:prstDash val="solid"/>
          </a:ln>
        </p:spPr>
      </p:sp>
      <p:sp>
        <p:nvSpPr>
          <p:cNvPr id="23" name="Shape 21"/>
          <p:cNvSpPr/>
          <p:nvPr/>
        </p:nvSpPr>
        <p:spPr>
          <a:xfrm>
            <a:off x="9445752" y="2852928"/>
            <a:ext cx="548640" cy="146304"/>
          </a:xfrm>
          <a:prstGeom prst="rightArrow">
            <a:avLst/>
          </a:prstGeom>
          <a:solidFill>
            <a:srgbClr val="C4B2B8"/>
          </a:solidFill>
          <a:ln w="12700">
            <a:solidFill>
              <a:srgbClr val="C4B2B8"/>
            </a:solidFill>
            <a:prstDash val="solid"/>
          </a:ln>
        </p:spPr>
      </p:sp>
      <p:sp>
        <p:nvSpPr>
          <p:cNvPr id="24" name="Text 22"/>
          <p:cNvSpPr txBox="1"/>
          <p:nvPr/>
        </p:nvSpPr>
        <p:spPr>
          <a:xfrm>
            <a:off x="2834640" y="3657600"/>
            <a:ext cx="6583680" cy="320040"/>
          </a:xfrm>
          <a:prstGeom prst="rect">
            <a:avLst/>
          </a:prstGeom>
          <a:noFill/>
          <a:ln/>
        </p:spPr>
        <p:txBody>
          <a:bodyPr wrap="square" lIns="0" tIns="0" rIns="0" bIns="0" rtlCol="0" anchor="ctr"/>
          <a:lstStyle/>
          <a:p>
            <a:pPr algn="ctr" indent="0" marL="0">
              <a:buNone/>
            </a:pPr>
            <a:r>
              <a:rPr lang="en-US" sz="1200" i="1" dirty="0">
                <a:solidFill>
                  <a:srgbClr val="6D2E46"/>
                </a:solidFill>
              </a:rPr>
              <a:t>/  →  frontend          /api  →  backend</a:t>
            </a:r>
            <a:endParaRPr lang="en-US" sz="1200" dirty="0"/>
          </a:p>
        </p:txBody>
      </p:sp>
      <p:sp>
        <p:nvSpPr>
          <p:cNvPr id="25" name="Text 23"/>
          <p:cNvSpPr txBox="1"/>
          <p:nvPr/>
        </p:nvSpPr>
        <p:spPr>
          <a:xfrm>
            <a:off x="2743200" y="4069080"/>
            <a:ext cx="8686800" cy="640080"/>
          </a:xfrm>
          <a:prstGeom prst="rect">
            <a:avLst/>
          </a:prstGeom>
          <a:noFill/>
          <a:ln/>
        </p:spPr>
        <p:txBody>
          <a:bodyPr wrap="square" lIns="0" tIns="0" rIns="0" bIns="0" rtlCol="0" anchor="ctr"/>
          <a:lstStyle/>
          <a:p>
            <a:pPr algn="l" indent="0" marL="0">
              <a:lnSpc>
                <a:spcPts val="1600"/>
              </a:lnSpc>
              <a:buNone/>
            </a:pPr>
            <a:r>
              <a:rPr lang="en-US" sz="1150" dirty="0">
                <a:solidFill>
                  <a:srgbClr val="6E5C62"/>
                </a:solidFill>
              </a:rPr>
              <a:t>HPA scales the backend 2 → 5 on CPU.  Readiness hits /ready, which runs a real query against Postgres; liveness hits /health.  An initContainer waits for the database before Alembic runs.</a:t>
            </a:r>
            <a:endParaRPr lang="en-US" sz="1150" dirty="0"/>
          </a:p>
        </p:txBody>
      </p:sp>
      <p:sp>
        <p:nvSpPr>
          <p:cNvPr id="26" name="Shape 24"/>
          <p:cNvSpPr/>
          <p:nvPr/>
        </p:nvSpPr>
        <p:spPr>
          <a:xfrm>
            <a:off x="548640" y="5074920"/>
            <a:ext cx="11064240" cy="868680"/>
          </a:xfrm>
          <a:prstGeom prst="roundRect">
            <a:avLst>
              <a:gd name="adj" fmla="val 8421"/>
            </a:avLst>
          </a:prstGeom>
          <a:solidFill>
            <a:srgbClr val="FAF6F7"/>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7" name="Text 25"/>
          <p:cNvSpPr txBox="1"/>
          <p:nvPr/>
        </p:nvSpPr>
        <p:spPr>
          <a:xfrm>
            <a:off x="822960" y="5257800"/>
            <a:ext cx="10515600" cy="548640"/>
          </a:xfrm>
          <a:prstGeom prst="rect">
            <a:avLst/>
          </a:prstGeom>
          <a:noFill/>
          <a:ln/>
        </p:spPr>
        <p:txBody>
          <a:bodyPr wrap="square" lIns="0" tIns="0" rIns="0" bIns="0" rtlCol="0" anchor="ctr"/>
          <a:lstStyle/>
          <a:p>
            <a:pPr indent="0" marL="0">
              <a:lnSpc>
                <a:spcPts val="1800"/>
              </a:lnSpc>
              <a:buNone/>
            </a:pPr>
            <a:r>
              <a:rPr lang="en-US" sz="1250" dirty="0">
                <a:solidFill>
                  <a:schemeClr val="tx1"/>
                </a:solidFill>
              </a:rPr>
              <a:t>The browser only ever talks to nginx. nginx proxies /api to the backend Service, so the same frontend image works unchanged in Docker Compose and in Kubernetes.</a:t>
            </a:r>
            <a:endParaRPr lang="en-US" sz="125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CI/CD pipeline</a:t>
            </a:r>
            <a:endParaRPr lang="en-US" sz="3200" dirty="0"/>
          </a:p>
        </p:txBody>
      </p:sp>
      <p:sp>
        <p:nvSpPr>
          <p:cNvPr id="3" name="Shape 1"/>
          <p:cNvSpPr/>
          <p:nvPr/>
        </p:nvSpPr>
        <p:spPr>
          <a:xfrm>
            <a:off x="548640" y="1600200"/>
            <a:ext cx="1783080" cy="1371600"/>
          </a:xfrm>
          <a:prstGeom prst="roundRect">
            <a:avLst>
              <a:gd name="adj" fmla="val 5333"/>
            </a:avLst>
          </a:prstGeom>
          <a:solidFill>
            <a:srgbClr val="FFFFFF"/>
          </a:solidFill>
          <a:ln w="19050">
            <a:solidFill>
              <a:srgbClr val="8A8178"/>
            </a:solidFill>
            <a:prstDash val="solid"/>
          </a:ln>
        </p:spPr>
      </p:sp>
      <p:sp>
        <p:nvSpPr>
          <p:cNvPr id="4" name="Text 2"/>
          <p:cNvSpPr txBox="1"/>
          <p:nvPr/>
        </p:nvSpPr>
        <p:spPr>
          <a:xfrm>
            <a:off x="621792" y="1783080"/>
            <a:ext cx="1636776" cy="320040"/>
          </a:xfrm>
          <a:prstGeom prst="rect">
            <a:avLst/>
          </a:prstGeom>
          <a:noFill/>
          <a:ln/>
        </p:spPr>
        <p:txBody>
          <a:bodyPr wrap="square" lIns="0" tIns="0" rIns="0" bIns="0" rtlCol="0" anchor="ctr"/>
          <a:lstStyle/>
          <a:p>
            <a:pPr algn="ctr" indent="0" marL="0">
              <a:buNone/>
            </a:pPr>
            <a:r>
              <a:rPr lang="en-US" sz="1300" b="1" dirty="0">
                <a:solidFill>
                  <a:srgbClr val="8A8178"/>
                </a:solidFill>
              </a:rPr>
              <a:t>git push</a:t>
            </a:r>
            <a:endParaRPr lang="en-US" sz="1300" dirty="0"/>
          </a:p>
        </p:txBody>
      </p:sp>
      <p:sp>
        <p:nvSpPr>
          <p:cNvPr id="5" name="Text 3"/>
          <p:cNvSpPr txBox="1"/>
          <p:nvPr/>
        </p:nvSpPr>
        <p:spPr>
          <a:xfrm>
            <a:off x="62179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to main</a:t>
            </a:r>
            <a:endParaRPr lang="en-US" sz="1000" dirty="0"/>
          </a:p>
        </p:txBody>
      </p:sp>
      <p:sp>
        <p:nvSpPr>
          <p:cNvPr id="6" name="Shape 4"/>
          <p:cNvSpPr/>
          <p:nvPr/>
        </p:nvSpPr>
        <p:spPr>
          <a:xfrm>
            <a:off x="2368296" y="2212848"/>
            <a:ext cx="118872" cy="146304"/>
          </a:xfrm>
          <a:prstGeom prst="rightArrow">
            <a:avLst/>
          </a:prstGeom>
          <a:solidFill>
            <a:srgbClr val="C4B2B8"/>
          </a:solidFill>
          <a:ln w="12700">
            <a:solidFill>
              <a:srgbClr val="C4B2B8"/>
            </a:solidFill>
            <a:prstDash val="solid"/>
          </a:ln>
        </p:spPr>
      </p:sp>
      <p:sp>
        <p:nvSpPr>
          <p:cNvPr id="7" name="Shape 5"/>
          <p:cNvSpPr/>
          <p:nvPr/>
        </p:nvSpPr>
        <p:spPr>
          <a:xfrm>
            <a:off x="2468880" y="1600200"/>
            <a:ext cx="1783080" cy="1371600"/>
          </a:xfrm>
          <a:prstGeom prst="roundRect">
            <a:avLst>
              <a:gd name="adj" fmla="val 5333"/>
            </a:avLst>
          </a:prstGeom>
          <a:solidFill>
            <a:srgbClr val="FFFFFF"/>
          </a:solidFill>
          <a:ln w="19050">
            <a:solidFill>
              <a:srgbClr val="2E7D63"/>
            </a:solidFill>
            <a:prstDash val="solid"/>
          </a:ln>
        </p:spPr>
      </p:sp>
      <p:sp>
        <p:nvSpPr>
          <p:cNvPr id="8" name="Text 6"/>
          <p:cNvSpPr txBox="1"/>
          <p:nvPr/>
        </p:nvSpPr>
        <p:spPr>
          <a:xfrm>
            <a:off x="2542032" y="1783080"/>
            <a:ext cx="1636776" cy="320040"/>
          </a:xfrm>
          <a:prstGeom prst="rect">
            <a:avLst/>
          </a:prstGeom>
          <a:noFill/>
          <a:ln/>
        </p:spPr>
        <p:txBody>
          <a:bodyPr wrap="square" lIns="0" tIns="0" rIns="0" bIns="0" rtlCol="0" anchor="ctr"/>
          <a:lstStyle/>
          <a:p>
            <a:pPr algn="ctr" indent="0" marL="0">
              <a:buNone/>
            </a:pPr>
            <a:r>
              <a:rPr lang="en-US" sz="1300" b="1" dirty="0">
                <a:solidFill>
                  <a:srgbClr val="2E7D63"/>
                </a:solidFill>
              </a:rPr>
              <a:t>Tests</a:t>
            </a:r>
            <a:endParaRPr lang="en-US" sz="1300" dirty="0"/>
          </a:p>
        </p:txBody>
      </p:sp>
      <p:sp>
        <p:nvSpPr>
          <p:cNvPr id="9" name="Text 7"/>
          <p:cNvSpPr txBox="1"/>
          <p:nvPr/>
        </p:nvSpPr>
        <p:spPr>
          <a:xfrm>
            <a:off x="254203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flake8 + 11 pytest</a:t>
            </a:r>
            <a:endParaRPr lang="en-US" sz="1000" dirty="0"/>
          </a:p>
          <a:p>
            <a:pPr algn="ctr" indent="0" marL="0">
              <a:lnSpc>
                <a:spcPts val="1300"/>
              </a:lnSpc>
              <a:buNone/>
            </a:pPr>
            <a:r>
              <a:rPr lang="en-US" sz="1000" dirty="0">
                <a:solidFill>
                  <a:srgbClr val="6E5C62"/>
                </a:solidFill>
              </a:rPr>
              <a:t>npm build</a:t>
            </a:r>
            <a:endParaRPr lang="en-US" sz="1000" dirty="0"/>
          </a:p>
        </p:txBody>
      </p:sp>
      <p:sp>
        <p:nvSpPr>
          <p:cNvPr id="10" name="Shape 8"/>
          <p:cNvSpPr/>
          <p:nvPr/>
        </p:nvSpPr>
        <p:spPr>
          <a:xfrm>
            <a:off x="4288536" y="2212848"/>
            <a:ext cx="118872" cy="146304"/>
          </a:xfrm>
          <a:prstGeom prst="rightArrow">
            <a:avLst/>
          </a:prstGeom>
          <a:solidFill>
            <a:srgbClr val="C4B2B8"/>
          </a:solidFill>
          <a:ln w="12700">
            <a:solidFill>
              <a:srgbClr val="C4B2B8"/>
            </a:solidFill>
            <a:prstDash val="solid"/>
          </a:ln>
        </p:spPr>
      </p:sp>
      <p:sp>
        <p:nvSpPr>
          <p:cNvPr id="11" name="Shape 9"/>
          <p:cNvSpPr/>
          <p:nvPr/>
        </p:nvSpPr>
        <p:spPr>
          <a:xfrm>
            <a:off x="4389120" y="1600200"/>
            <a:ext cx="1783080" cy="1371600"/>
          </a:xfrm>
          <a:prstGeom prst="roundRect">
            <a:avLst>
              <a:gd name="adj" fmla="val 5333"/>
            </a:avLst>
          </a:prstGeom>
          <a:solidFill>
            <a:srgbClr val="FFFFFF"/>
          </a:solidFill>
          <a:ln w="19050">
            <a:solidFill>
              <a:srgbClr val="2E7D63"/>
            </a:solidFill>
            <a:prstDash val="solid"/>
          </a:ln>
        </p:spPr>
      </p:sp>
      <p:sp>
        <p:nvSpPr>
          <p:cNvPr id="12" name="Text 10"/>
          <p:cNvSpPr txBox="1"/>
          <p:nvPr/>
        </p:nvSpPr>
        <p:spPr>
          <a:xfrm>
            <a:off x="4462272" y="1783080"/>
            <a:ext cx="1636776" cy="320040"/>
          </a:xfrm>
          <a:prstGeom prst="rect">
            <a:avLst/>
          </a:prstGeom>
          <a:noFill/>
          <a:ln/>
        </p:spPr>
        <p:txBody>
          <a:bodyPr wrap="square" lIns="0" tIns="0" rIns="0" bIns="0" rtlCol="0" anchor="ctr"/>
          <a:lstStyle/>
          <a:p>
            <a:pPr algn="ctr" indent="0" marL="0">
              <a:buNone/>
            </a:pPr>
            <a:r>
              <a:rPr lang="en-US" sz="1300" b="1" dirty="0">
                <a:solidFill>
                  <a:srgbClr val="2E7D63"/>
                </a:solidFill>
              </a:rPr>
              <a:t>Helm lint</a:t>
            </a:r>
            <a:endParaRPr lang="en-US" sz="1300" dirty="0"/>
          </a:p>
        </p:txBody>
      </p:sp>
      <p:sp>
        <p:nvSpPr>
          <p:cNvPr id="13" name="Text 11"/>
          <p:cNvSpPr txBox="1"/>
          <p:nvPr/>
        </p:nvSpPr>
        <p:spPr>
          <a:xfrm>
            <a:off x="446227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chart renders</a:t>
            </a:r>
            <a:endParaRPr lang="en-US" sz="1000" dirty="0"/>
          </a:p>
        </p:txBody>
      </p:sp>
      <p:sp>
        <p:nvSpPr>
          <p:cNvPr id="14" name="Shape 12"/>
          <p:cNvSpPr/>
          <p:nvPr/>
        </p:nvSpPr>
        <p:spPr>
          <a:xfrm>
            <a:off x="6208776" y="2212848"/>
            <a:ext cx="118872" cy="146304"/>
          </a:xfrm>
          <a:prstGeom prst="rightArrow">
            <a:avLst/>
          </a:prstGeom>
          <a:solidFill>
            <a:srgbClr val="C4B2B8"/>
          </a:solidFill>
          <a:ln w="12700">
            <a:solidFill>
              <a:srgbClr val="C4B2B8"/>
            </a:solidFill>
            <a:prstDash val="solid"/>
          </a:ln>
        </p:spPr>
      </p:sp>
      <p:sp>
        <p:nvSpPr>
          <p:cNvPr id="15" name="Shape 13"/>
          <p:cNvSpPr/>
          <p:nvPr/>
        </p:nvSpPr>
        <p:spPr>
          <a:xfrm>
            <a:off x="6309360" y="1600200"/>
            <a:ext cx="1783080" cy="1371600"/>
          </a:xfrm>
          <a:prstGeom prst="roundRect">
            <a:avLst>
              <a:gd name="adj" fmla="val 5333"/>
            </a:avLst>
          </a:prstGeom>
          <a:solidFill>
            <a:srgbClr val="FFFFFF"/>
          </a:solidFill>
          <a:ln w="19050">
            <a:solidFill>
              <a:srgbClr val="3F5E7A"/>
            </a:solidFill>
            <a:prstDash val="solid"/>
          </a:ln>
        </p:spPr>
      </p:sp>
      <p:sp>
        <p:nvSpPr>
          <p:cNvPr id="16" name="Text 14"/>
          <p:cNvSpPr txBox="1"/>
          <p:nvPr/>
        </p:nvSpPr>
        <p:spPr>
          <a:xfrm>
            <a:off x="6382512" y="1783080"/>
            <a:ext cx="1636776" cy="320040"/>
          </a:xfrm>
          <a:prstGeom prst="rect">
            <a:avLst/>
          </a:prstGeom>
          <a:noFill/>
          <a:ln/>
        </p:spPr>
        <p:txBody>
          <a:bodyPr wrap="square" lIns="0" tIns="0" rIns="0" bIns="0" rtlCol="0" anchor="ctr"/>
          <a:lstStyle/>
          <a:p>
            <a:pPr algn="ctr" indent="0" marL="0">
              <a:buNone/>
            </a:pPr>
            <a:r>
              <a:rPr lang="en-US" sz="1300" b="1" dirty="0">
                <a:solidFill>
                  <a:srgbClr val="3F5E7A"/>
                </a:solidFill>
              </a:rPr>
              <a:t>Docker build</a:t>
            </a:r>
            <a:endParaRPr lang="en-US" sz="1300" dirty="0"/>
          </a:p>
        </p:txBody>
      </p:sp>
      <p:sp>
        <p:nvSpPr>
          <p:cNvPr id="17" name="Text 15"/>
          <p:cNvSpPr txBox="1"/>
          <p:nvPr/>
        </p:nvSpPr>
        <p:spPr>
          <a:xfrm>
            <a:off x="638251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backend +</a:t>
            </a:r>
            <a:endParaRPr lang="en-US" sz="1000" dirty="0"/>
          </a:p>
          <a:p>
            <a:pPr algn="ctr" indent="0" marL="0">
              <a:lnSpc>
                <a:spcPts val="1300"/>
              </a:lnSpc>
              <a:buNone/>
            </a:pPr>
            <a:r>
              <a:rPr lang="en-US" sz="1000" dirty="0">
                <a:solidFill>
                  <a:srgbClr val="6E5C62"/>
                </a:solidFill>
              </a:rPr>
              <a:t>frontend</a:t>
            </a:r>
            <a:endParaRPr lang="en-US" sz="1000" dirty="0"/>
          </a:p>
        </p:txBody>
      </p:sp>
      <p:sp>
        <p:nvSpPr>
          <p:cNvPr id="18" name="Shape 16"/>
          <p:cNvSpPr/>
          <p:nvPr/>
        </p:nvSpPr>
        <p:spPr>
          <a:xfrm>
            <a:off x="8129016" y="2212848"/>
            <a:ext cx="118872" cy="146304"/>
          </a:xfrm>
          <a:prstGeom prst="rightArrow">
            <a:avLst/>
          </a:prstGeom>
          <a:solidFill>
            <a:srgbClr val="C4B2B8"/>
          </a:solidFill>
          <a:ln w="12700">
            <a:solidFill>
              <a:srgbClr val="C4B2B8"/>
            </a:solidFill>
            <a:prstDash val="solid"/>
          </a:ln>
        </p:spPr>
      </p:sp>
      <p:sp>
        <p:nvSpPr>
          <p:cNvPr id="19" name="Shape 17"/>
          <p:cNvSpPr/>
          <p:nvPr/>
        </p:nvSpPr>
        <p:spPr>
          <a:xfrm>
            <a:off x="8229600" y="1600200"/>
            <a:ext cx="1783080" cy="1371600"/>
          </a:xfrm>
          <a:prstGeom prst="roundRect">
            <a:avLst>
              <a:gd name="adj" fmla="val 5333"/>
            </a:avLst>
          </a:prstGeom>
          <a:solidFill>
            <a:srgbClr val="FFFFFF"/>
          </a:solidFill>
          <a:ln w="19050">
            <a:solidFill>
              <a:srgbClr val="B07D2B"/>
            </a:solidFill>
            <a:prstDash val="solid"/>
          </a:ln>
        </p:spPr>
      </p:sp>
      <p:sp>
        <p:nvSpPr>
          <p:cNvPr id="20" name="Text 18"/>
          <p:cNvSpPr txBox="1"/>
          <p:nvPr/>
        </p:nvSpPr>
        <p:spPr>
          <a:xfrm>
            <a:off x="8302752" y="1783080"/>
            <a:ext cx="1636776" cy="320040"/>
          </a:xfrm>
          <a:prstGeom prst="rect">
            <a:avLst/>
          </a:prstGeom>
          <a:noFill/>
          <a:ln/>
        </p:spPr>
        <p:txBody>
          <a:bodyPr wrap="square" lIns="0" tIns="0" rIns="0" bIns="0" rtlCol="0" anchor="ctr"/>
          <a:lstStyle/>
          <a:p>
            <a:pPr algn="ctr" indent="0" marL="0">
              <a:buNone/>
            </a:pPr>
            <a:r>
              <a:rPr lang="en-US" sz="1300" b="1" dirty="0">
                <a:solidFill>
                  <a:srgbClr val="B07D2B"/>
                </a:solidFill>
              </a:rPr>
              <a:t>Trivy gate</a:t>
            </a:r>
            <a:endParaRPr lang="en-US" sz="1300" dirty="0"/>
          </a:p>
        </p:txBody>
      </p:sp>
      <p:sp>
        <p:nvSpPr>
          <p:cNvPr id="21" name="Text 19"/>
          <p:cNvSpPr txBox="1"/>
          <p:nvPr/>
        </p:nvSpPr>
        <p:spPr>
          <a:xfrm>
            <a:off x="830275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HIGH/CRITICAL</a:t>
            </a:r>
            <a:endParaRPr lang="en-US" sz="1000" dirty="0"/>
          </a:p>
          <a:p>
            <a:pPr algn="ctr" indent="0" marL="0">
              <a:lnSpc>
                <a:spcPts val="1300"/>
              </a:lnSpc>
              <a:buNone/>
            </a:pPr>
            <a:r>
              <a:rPr lang="en-US" sz="1000" dirty="0">
                <a:solidFill>
                  <a:srgbClr val="6E5C62"/>
                </a:solidFill>
              </a:rPr>
              <a:t>blocks the build</a:t>
            </a:r>
            <a:endParaRPr lang="en-US" sz="1000" dirty="0"/>
          </a:p>
        </p:txBody>
      </p:sp>
      <p:sp>
        <p:nvSpPr>
          <p:cNvPr id="22" name="Shape 20"/>
          <p:cNvSpPr/>
          <p:nvPr/>
        </p:nvSpPr>
        <p:spPr>
          <a:xfrm>
            <a:off x="10049256" y="2212848"/>
            <a:ext cx="118872" cy="146304"/>
          </a:xfrm>
          <a:prstGeom prst="rightArrow">
            <a:avLst/>
          </a:prstGeom>
          <a:solidFill>
            <a:srgbClr val="C4B2B8"/>
          </a:solidFill>
          <a:ln w="12700">
            <a:solidFill>
              <a:srgbClr val="C4B2B8"/>
            </a:solidFill>
            <a:prstDash val="solid"/>
          </a:ln>
        </p:spPr>
      </p:sp>
      <p:sp>
        <p:nvSpPr>
          <p:cNvPr id="23" name="Shape 21"/>
          <p:cNvSpPr/>
          <p:nvPr/>
        </p:nvSpPr>
        <p:spPr>
          <a:xfrm>
            <a:off x="10149840" y="1600200"/>
            <a:ext cx="1783080" cy="1371600"/>
          </a:xfrm>
          <a:prstGeom prst="roundRect">
            <a:avLst>
              <a:gd name="adj" fmla="val 5333"/>
            </a:avLst>
          </a:prstGeom>
          <a:solidFill>
            <a:srgbClr val="FFFFFF"/>
          </a:solidFill>
          <a:ln w="19050">
            <a:solidFill>
              <a:srgbClr val="6D2E46"/>
            </a:solidFill>
            <a:prstDash val="solid"/>
          </a:ln>
        </p:spPr>
      </p:sp>
      <p:sp>
        <p:nvSpPr>
          <p:cNvPr id="24" name="Text 22"/>
          <p:cNvSpPr txBox="1"/>
          <p:nvPr/>
        </p:nvSpPr>
        <p:spPr>
          <a:xfrm>
            <a:off x="10222992" y="1783080"/>
            <a:ext cx="1636776" cy="320040"/>
          </a:xfrm>
          <a:prstGeom prst="rect">
            <a:avLst/>
          </a:prstGeom>
          <a:noFill/>
          <a:ln/>
        </p:spPr>
        <p:txBody>
          <a:bodyPr wrap="square" lIns="0" tIns="0" rIns="0" bIns="0" rtlCol="0" anchor="ctr"/>
          <a:lstStyle/>
          <a:p>
            <a:pPr algn="ctr" indent="0" marL="0">
              <a:buNone/>
            </a:pPr>
            <a:r>
              <a:rPr lang="en-US" sz="1300" b="1" dirty="0">
                <a:solidFill>
                  <a:srgbClr val="6D2E46"/>
                </a:solidFill>
              </a:rPr>
              <a:t>GHCR</a:t>
            </a:r>
            <a:endParaRPr lang="en-US" sz="1300" dirty="0"/>
          </a:p>
        </p:txBody>
      </p:sp>
      <p:sp>
        <p:nvSpPr>
          <p:cNvPr id="25" name="Text 23"/>
          <p:cNvSpPr txBox="1"/>
          <p:nvPr/>
        </p:nvSpPr>
        <p:spPr>
          <a:xfrm>
            <a:off x="10222992" y="2121408"/>
            <a:ext cx="1636776" cy="685800"/>
          </a:xfrm>
          <a:prstGeom prst="rect">
            <a:avLst/>
          </a:prstGeom>
          <a:noFill/>
          <a:ln/>
        </p:spPr>
        <p:txBody>
          <a:bodyPr wrap="square" lIns="0" tIns="0" rIns="0" bIns="0" rtlCol="0" anchor="ctr"/>
          <a:lstStyle/>
          <a:p>
            <a:pPr algn="ctr" indent="0" marL="0">
              <a:lnSpc>
                <a:spcPts val="1300"/>
              </a:lnSpc>
              <a:buNone/>
            </a:pPr>
            <a:r>
              <a:rPr lang="en-US" sz="1000" dirty="0">
                <a:solidFill>
                  <a:srgbClr val="6E5C62"/>
                </a:solidFill>
              </a:rPr>
              <a:t>tagged with the</a:t>
            </a:r>
            <a:endParaRPr lang="en-US" sz="1000" dirty="0"/>
          </a:p>
          <a:p>
            <a:pPr algn="ctr" indent="0" marL="0">
              <a:lnSpc>
                <a:spcPts val="1300"/>
              </a:lnSpc>
              <a:buNone/>
            </a:pPr>
            <a:r>
              <a:rPr lang="en-US" sz="1000" dirty="0">
                <a:solidFill>
                  <a:srgbClr val="6E5C62"/>
                </a:solidFill>
              </a:rPr>
              <a:t>commit SHA</a:t>
            </a:r>
            <a:endParaRPr lang="en-US" sz="1000" dirty="0"/>
          </a:p>
        </p:txBody>
      </p:sp>
      <p:sp>
        <p:nvSpPr>
          <p:cNvPr id="26" name="Shape 24"/>
          <p:cNvSpPr/>
          <p:nvPr/>
        </p:nvSpPr>
        <p:spPr>
          <a:xfrm>
            <a:off x="548640" y="3337560"/>
            <a:ext cx="3474720" cy="2377440"/>
          </a:xfrm>
          <a:prstGeom prst="roundRect">
            <a:avLst>
              <a:gd name="adj" fmla="val 3077"/>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7" name="Text 25"/>
          <p:cNvSpPr txBox="1"/>
          <p:nvPr/>
        </p:nvSpPr>
        <p:spPr>
          <a:xfrm>
            <a:off x="777240" y="3520440"/>
            <a:ext cx="3017520" cy="384048"/>
          </a:xfrm>
          <a:prstGeom prst="rect">
            <a:avLst/>
          </a:prstGeom>
          <a:noFill/>
          <a:ln/>
        </p:spPr>
        <p:txBody>
          <a:bodyPr wrap="square" lIns="0" tIns="0" rIns="0" bIns="0" rtlCol="0" anchor="ctr"/>
          <a:lstStyle/>
          <a:p>
            <a:pPr indent="0" marL="0">
              <a:buNone/>
            </a:pPr>
            <a:r>
              <a:rPr lang="en-US" sz="1400" b="1" dirty="0">
                <a:solidFill>
                  <a:schemeClr val="tx2"/>
                </a:solidFill>
              </a:rPr>
              <a:t>Parallel, then gated</a:t>
            </a:r>
            <a:endParaRPr lang="en-US" sz="1400" dirty="0"/>
          </a:p>
        </p:txBody>
      </p:sp>
      <p:sp>
        <p:nvSpPr>
          <p:cNvPr id="28" name="Text 26"/>
          <p:cNvSpPr txBox="1"/>
          <p:nvPr/>
        </p:nvSpPr>
        <p:spPr>
          <a:xfrm>
            <a:off x="777240" y="3977640"/>
            <a:ext cx="3063240" cy="1554480"/>
          </a:xfrm>
          <a:prstGeom prst="rect">
            <a:avLst/>
          </a:prstGeom>
          <a:noFill/>
          <a:ln/>
        </p:spPr>
        <p:txBody>
          <a:bodyPr wrap="square" lIns="0" tIns="0" rIns="0" bIns="0" rtlCol="0" anchor="ctr"/>
          <a:lstStyle/>
          <a:p>
            <a:pPr indent="0" marL="0">
              <a:lnSpc>
                <a:spcPts val="1700"/>
              </a:lnSpc>
              <a:buNone/>
            </a:pPr>
            <a:r>
              <a:rPr lang="en-US" sz="1200" dirty="0">
                <a:solidFill>
                  <a:srgbClr val="6E5C62"/>
                </a:solidFill>
              </a:rPr>
              <a:t>The test and chart jobs run side by side. The build job declares needs on both, so an image is never built from code whose tests failed.</a:t>
            </a:r>
            <a:endParaRPr lang="en-US" sz="1200" dirty="0"/>
          </a:p>
        </p:txBody>
      </p:sp>
      <p:sp>
        <p:nvSpPr>
          <p:cNvPr id="29" name="Shape 27"/>
          <p:cNvSpPr/>
          <p:nvPr/>
        </p:nvSpPr>
        <p:spPr>
          <a:xfrm>
            <a:off x="4270248" y="3337560"/>
            <a:ext cx="3474720" cy="2377440"/>
          </a:xfrm>
          <a:prstGeom prst="roundRect">
            <a:avLst>
              <a:gd name="adj" fmla="val 3077"/>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30" name="Text 28"/>
          <p:cNvSpPr txBox="1"/>
          <p:nvPr/>
        </p:nvSpPr>
        <p:spPr>
          <a:xfrm>
            <a:off x="4498848" y="3520440"/>
            <a:ext cx="3017520" cy="384048"/>
          </a:xfrm>
          <a:prstGeom prst="rect">
            <a:avLst/>
          </a:prstGeom>
          <a:noFill/>
          <a:ln/>
        </p:spPr>
        <p:txBody>
          <a:bodyPr wrap="square" lIns="0" tIns="0" rIns="0" bIns="0" rtlCol="0" anchor="ctr"/>
          <a:lstStyle/>
          <a:p>
            <a:pPr indent="0" marL="0">
              <a:buNone/>
            </a:pPr>
            <a:r>
              <a:rPr lang="en-US" sz="1400" b="1" dirty="0">
                <a:solidFill>
                  <a:schemeClr val="tx2"/>
                </a:solidFill>
              </a:rPr>
              <a:t>SHA tags, never latest</a:t>
            </a:r>
            <a:endParaRPr lang="en-US" sz="1400" dirty="0"/>
          </a:p>
        </p:txBody>
      </p:sp>
      <p:sp>
        <p:nvSpPr>
          <p:cNvPr id="31" name="Text 29"/>
          <p:cNvSpPr txBox="1"/>
          <p:nvPr/>
        </p:nvSpPr>
        <p:spPr>
          <a:xfrm>
            <a:off x="4498848" y="3977640"/>
            <a:ext cx="3063240" cy="1554480"/>
          </a:xfrm>
          <a:prstGeom prst="rect">
            <a:avLst/>
          </a:prstGeom>
          <a:noFill/>
          <a:ln/>
        </p:spPr>
        <p:txBody>
          <a:bodyPr wrap="square" lIns="0" tIns="0" rIns="0" bIns="0" rtlCol="0" anchor="ctr"/>
          <a:lstStyle/>
          <a:p>
            <a:pPr indent="0" marL="0">
              <a:lnSpc>
                <a:spcPts val="1700"/>
              </a:lnSpc>
              <a:buNone/>
            </a:pPr>
            <a:r>
              <a:rPr lang="en-US" sz="1200" dirty="0">
                <a:solidFill>
                  <a:srgbClr val="6E5C62"/>
                </a:solidFill>
              </a:rPr>
              <a:t>Given a running pod you can read its tag and go straight to the commit that produced it.</a:t>
            </a:r>
            <a:endParaRPr lang="en-US" sz="1200" dirty="0"/>
          </a:p>
        </p:txBody>
      </p:sp>
      <p:sp>
        <p:nvSpPr>
          <p:cNvPr id="32" name="Shape 30"/>
          <p:cNvSpPr/>
          <p:nvPr/>
        </p:nvSpPr>
        <p:spPr>
          <a:xfrm>
            <a:off x="7991856" y="3337560"/>
            <a:ext cx="3474720" cy="2377440"/>
          </a:xfrm>
          <a:prstGeom prst="roundRect">
            <a:avLst>
              <a:gd name="adj" fmla="val 3077"/>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33" name="Text 31"/>
          <p:cNvSpPr txBox="1"/>
          <p:nvPr/>
        </p:nvSpPr>
        <p:spPr>
          <a:xfrm>
            <a:off x="8220456" y="3520440"/>
            <a:ext cx="3017520" cy="384048"/>
          </a:xfrm>
          <a:prstGeom prst="rect">
            <a:avLst/>
          </a:prstGeom>
          <a:noFill/>
          <a:ln/>
        </p:spPr>
        <p:txBody>
          <a:bodyPr wrap="square" lIns="0" tIns="0" rIns="0" bIns="0" rtlCol="0" anchor="ctr"/>
          <a:lstStyle/>
          <a:p>
            <a:pPr indent="0" marL="0">
              <a:buNone/>
            </a:pPr>
            <a:r>
              <a:rPr lang="en-US" sz="1400" b="1" dirty="0">
                <a:solidFill>
                  <a:schemeClr val="tx2"/>
                </a:solidFill>
              </a:rPr>
              <a:t>Three real failures</a:t>
            </a:r>
            <a:endParaRPr lang="en-US" sz="1400" dirty="0"/>
          </a:p>
        </p:txBody>
      </p:sp>
      <p:sp>
        <p:nvSpPr>
          <p:cNvPr id="34" name="Text 32"/>
          <p:cNvSpPr txBox="1"/>
          <p:nvPr/>
        </p:nvSpPr>
        <p:spPr>
          <a:xfrm>
            <a:off x="8220456" y="3977640"/>
            <a:ext cx="3063240" cy="1554480"/>
          </a:xfrm>
          <a:prstGeom prst="rect">
            <a:avLst/>
          </a:prstGeom>
          <a:noFill/>
          <a:ln/>
        </p:spPr>
        <p:txBody>
          <a:bodyPr wrap="square" lIns="0" tIns="0" rIns="0" bIns="0" rtlCol="0" anchor="ctr"/>
          <a:lstStyle/>
          <a:p>
            <a:pPr indent="0" marL="0">
              <a:lnSpc>
                <a:spcPts val="1700"/>
              </a:lnSpc>
              <a:buNone/>
            </a:pPr>
            <a:r>
              <a:rPr lang="en-US" sz="1200" dirty="0">
                <a:solidFill>
                  <a:srgbClr val="6E5C62"/>
                </a:solidFill>
              </a:rPr>
              <a:t>A wrong action tag, an uppercase username in a Docker image name, and a GHCR package owned by another repo. Found only by running it.</a:t>
            </a:r>
            <a:endParaRPr lang="en-US" sz="12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The security gate caught a real one</a:t>
            </a:r>
            <a:endParaRPr lang="en-US" sz="3200" dirty="0"/>
          </a:p>
        </p:txBody>
      </p:sp>
      <p:sp>
        <p:nvSpPr>
          <p:cNvPr id="3" name="Shape 1"/>
          <p:cNvSpPr/>
          <p:nvPr/>
        </p:nvSpPr>
        <p:spPr>
          <a:xfrm>
            <a:off x="548640" y="1463040"/>
            <a:ext cx="5394960" cy="3108960"/>
          </a:xfrm>
          <a:prstGeom prst="roundRect">
            <a:avLst>
              <a:gd name="adj" fmla="val 2353"/>
            </a:avLst>
          </a:prstGeom>
          <a:solidFill>
            <a:srgbClr val="FDF2F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4" name="Shape 2"/>
          <p:cNvSpPr/>
          <p:nvPr/>
        </p:nvSpPr>
        <p:spPr>
          <a:xfrm>
            <a:off x="822960" y="1691640"/>
            <a:ext cx="384048" cy="384048"/>
          </a:xfrm>
          <a:prstGeom prst="ellipse">
            <a:avLst/>
          </a:prstGeom>
          <a:solidFill>
            <a:srgbClr val="A33B3B"/>
          </a:solidFill>
          <a:ln w="12700">
            <a:solidFill>
              <a:srgbClr val="A33B3B"/>
            </a:solidFill>
            <a:prstDash val="solid"/>
          </a:ln>
        </p:spPr>
      </p:sp>
      <p:sp>
        <p:nvSpPr>
          <p:cNvPr id="5" name="Text 3"/>
          <p:cNvSpPr txBox="1"/>
          <p:nvPr/>
        </p:nvSpPr>
        <p:spPr>
          <a:xfrm>
            <a:off x="82296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6" name="Text 4"/>
          <p:cNvSpPr txBox="1"/>
          <p:nvPr/>
        </p:nvSpPr>
        <p:spPr>
          <a:xfrm>
            <a:off x="1325880" y="1709928"/>
            <a:ext cx="4206240" cy="365760"/>
          </a:xfrm>
          <a:prstGeom prst="rect">
            <a:avLst/>
          </a:prstGeom>
          <a:noFill/>
          <a:ln/>
        </p:spPr>
        <p:txBody>
          <a:bodyPr wrap="square" lIns="0" tIns="0" rIns="0" bIns="0" rtlCol="0" anchor="ctr"/>
          <a:lstStyle/>
          <a:p>
            <a:pPr indent="0" marL="0">
              <a:buNone/>
            </a:pPr>
            <a:r>
              <a:rPr lang="en-US" sz="1500" b="1" dirty="0">
                <a:solidFill>
                  <a:srgbClr val="A33B3B"/>
                </a:solidFill>
              </a:rPr>
              <a:t>First run - build blocked</a:t>
            </a:r>
            <a:endParaRPr lang="en-US" sz="1500" dirty="0"/>
          </a:p>
        </p:txBody>
      </p:sp>
      <p:sp>
        <p:nvSpPr>
          <p:cNvPr id="7" name="Text 5"/>
          <p:cNvSpPr txBox="1"/>
          <p:nvPr/>
        </p:nvSpPr>
        <p:spPr>
          <a:xfrm>
            <a:off x="822960" y="2240280"/>
            <a:ext cx="4846320" cy="2194560"/>
          </a:xfrm>
          <a:prstGeom prst="rect">
            <a:avLst/>
          </a:prstGeom>
          <a:noFill/>
          <a:ln/>
        </p:spPr>
        <p:txBody>
          <a:bodyPr wrap="square" lIns="0" tIns="0" rIns="0" bIns="0" rtlCol="0" anchor="ctr"/>
          <a:lstStyle/>
          <a:p>
            <a:pPr indent="0" marL="0">
              <a:lnSpc>
                <a:spcPts val="1700"/>
              </a:lnSpc>
              <a:buNone/>
            </a:pPr>
            <a:r>
              <a:rPr lang="en-US" sz="1200" b="1" dirty="0">
                <a:solidFill>
                  <a:srgbClr val="5E3A3A"/>
                </a:solidFill>
              </a:rPr>
              <a:t>starlette 0.41.3 - 3 fixable HIGH CVEs</a:t>
            </a:r>
            <a:endParaRPr lang="en-US" sz="1200" dirty="0"/>
          </a:p>
          <a:p>
            <a:pPr indent="0" marL="0">
              <a:lnSpc>
                <a:spcPts val="1700"/>
              </a:lnSpc>
              <a:buNone/>
            </a:pPr>
            <a:r>
              <a:rPr lang="en-US" sz="1200" dirty="0">
                <a:solidFill>
                  <a:srgbClr val="5E3A3A"/>
                </a:solidFill>
              </a:rPr>
              <a:t>DoS via Range header merging, SSRF through UNC paths in StaticFiles, form() limits ignored.</a:t>
            </a:r>
            <a:endParaRPr lang="en-US" sz="1200" dirty="0"/>
          </a:p>
          <a:p>
            <a:pPr indent="0" marL="0">
              <a:lnSpc>
                <a:spcPts val="1700"/>
              </a:lnSpc>
              <a:buNone/>
            </a:pPr>
            <a:r>
              <a:rPr lang="en-US" sz="800" dirty="0">
                <a:solidFill>
                  <a:srgbClr val="5E3A3A"/>
                </a:solidFill>
              </a:rPr>
              <a:t> </a:t>
            </a:r>
            <a:endParaRPr lang="en-US" sz="1200" dirty="0"/>
          </a:p>
          <a:p>
            <a:pPr indent="0" marL="0">
              <a:lnSpc>
                <a:spcPts val="1700"/>
              </a:lnSpc>
              <a:buNone/>
            </a:pPr>
            <a:r>
              <a:rPr lang="en-US" sz="1200" b="1" dirty="0">
                <a:solidFill>
                  <a:srgbClr val="5E3A3A"/>
                </a:solidFill>
              </a:rPr>
              <a:t>alpine 3.21 base - 6 more</a:t>
            </a:r>
            <a:endParaRPr lang="en-US" sz="1200" dirty="0"/>
          </a:p>
          <a:p>
            <a:pPr indent="0" marL="0">
              <a:lnSpc>
                <a:spcPts val="1700"/>
              </a:lnSpc>
              <a:buNone/>
            </a:pPr>
            <a:r>
              <a:rPr lang="en-US" sz="1200" dirty="0">
                <a:solidFill>
                  <a:srgbClr val="5E3A3A"/>
                </a:solidFill>
              </a:rPr>
              <a:t>libxml2, musl, nghttp2, zlib.</a:t>
            </a:r>
            <a:endParaRPr lang="en-US" sz="1200" dirty="0"/>
          </a:p>
          <a:p>
            <a:pPr indent="0" marL="0">
              <a:lnSpc>
                <a:spcPts val="1700"/>
              </a:lnSpc>
              <a:buNone/>
            </a:pPr>
            <a:r>
              <a:rPr lang="en-US" sz="800" dirty="0">
                <a:solidFill>
                  <a:srgbClr val="5E3A3A"/>
                </a:solidFill>
              </a:rPr>
              <a:t> </a:t>
            </a:r>
            <a:endParaRPr lang="en-US" sz="1200" dirty="0"/>
          </a:p>
          <a:p>
            <a:pPr indent="0" marL="0">
              <a:lnSpc>
                <a:spcPts val="1700"/>
              </a:lnSpc>
              <a:buNone/>
            </a:pPr>
            <a:r>
              <a:rPr lang="en-US" sz="1200" i="1" dirty="0">
                <a:solidFill>
                  <a:srgbClr val="5E3A3A"/>
                </a:solidFill>
              </a:rPr>
              <a:t>I never installed starlette. FastAPI pulls it in - a transitive dependency held up the build.</a:t>
            </a:r>
            <a:endParaRPr lang="en-US" sz="1200" dirty="0"/>
          </a:p>
        </p:txBody>
      </p:sp>
      <p:sp>
        <p:nvSpPr>
          <p:cNvPr id="8" name="Shape 6"/>
          <p:cNvSpPr/>
          <p:nvPr/>
        </p:nvSpPr>
        <p:spPr>
          <a:xfrm>
            <a:off x="6217920" y="1463040"/>
            <a:ext cx="5394960" cy="3108960"/>
          </a:xfrm>
          <a:prstGeom prst="roundRect">
            <a:avLst>
              <a:gd name="adj" fmla="val 2353"/>
            </a:avLst>
          </a:prstGeom>
          <a:solidFill>
            <a:srgbClr val="F0F8F4"/>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9" name="Shape 7"/>
          <p:cNvSpPr/>
          <p:nvPr/>
        </p:nvSpPr>
        <p:spPr>
          <a:xfrm>
            <a:off x="6492240" y="1691640"/>
            <a:ext cx="384048" cy="384048"/>
          </a:xfrm>
          <a:prstGeom prst="ellipse">
            <a:avLst/>
          </a:prstGeom>
          <a:solidFill>
            <a:srgbClr val="2E7D63"/>
          </a:solidFill>
          <a:ln w="12700">
            <a:solidFill>
              <a:srgbClr val="2E7D63"/>
            </a:solidFill>
            <a:prstDash val="solid"/>
          </a:ln>
        </p:spPr>
      </p:sp>
      <p:sp>
        <p:nvSpPr>
          <p:cNvPr id="10" name="Text 8"/>
          <p:cNvSpPr txBox="1"/>
          <p:nvPr/>
        </p:nvSpPr>
        <p:spPr>
          <a:xfrm>
            <a:off x="6492240" y="16916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rPr>
              <a:t>OK</a:t>
            </a:r>
            <a:endParaRPr lang="en-US" sz="1000" dirty="0"/>
          </a:p>
        </p:txBody>
      </p:sp>
      <p:sp>
        <p:nvSpPr>
          <p:cNvPr id="11" name="Text 9"/>
          <p:cNvSpPr txBox="1"/>
          <p:nvPr/>
        </p:nvSpPr>
        <p:spPr>
          <a:xfrm>
            <a:off x="6995160" y="1709928"/>
            <a:ext cx="4206240" cy="365760"/>
          </a:xfrm>
          <a:prstGeom prst="rect">
            <a:avLst/>
          </a:prstGeom>
          <a:noFill/>
          <a:ln/>
        </p:spPr>
        <p:txBody>
          <a:bodyPr wrap="square" lIns="0" tIns="0" rIns="0" bIns="0" rtlCol="0" anchor="ctr"/>
          <a:lstStyle/>
          <a:p>
            <a:pPr indent="0" marL="0">
              <a:buNone/>
            </a:pPr>
            <a:r>
              <a:rPr lang="en-US" sz="1500" b="1" dirty="0">
                <a:solidFill>
                  <a:srgbClr val="2E7D63"/>
                </a:solidFill>
              </a:rPr>
              <a:t>After the upgrade - clean</a:t>
            </a:r>
            <a:endParaRPr lang="en-US" sz="1500" dirty="0"/>
          </a:p>
        </p:txBody>
      </p:sp>
      <p:sp>
        <p:nvSpPr>
          <p:cNvPr id="12" name="Text 10"/>
          <p:cNvSpPr txBox="1"/>
          <p:nvPr/>
        </p:nvSpPr>
        <p:spPr>
          <a:xfrm>
            <a:off x="6492240" y="2240280"/>
            <a:ext cx="4846320" cy="2194560"/>
          </a:xfrm>
          <a:prstGeom prst="rect">
            <a:avLst/>
          </a:prstGeom>
          <a:noFill/>
          <a:ln/>
        </p:spPr>
        <p:txBody>
          <a:bodyPr wrap="square" lIns="0" tIns="0" rIns="0" bIns="0" rtlCol="0" anchor="ctr"/>
          <a:lstStyle/>
          <a:p>
            <a:pPr indent="0" marL="0">
              <a:lnSpc>
                <a:spcPts val="1700"/>
              </a:lnSpc>
              <a:buNone/>
            </a:pPr>
            <a:r>
              <a:rPr lang="en-US" sz="1200" b="1" dirty="0">
                <a:solidFill>
                  <a:srgbClr val="2C5248"/>
                </a:solidFill>
              </a:rPr>
              <a:t>FastAPI 0.115 → 0.142 (starlette 1.7.0)</a:t>
            </a:r>
            <a:endParaRPr lang="en-US" sz="1200" dirty="0"/>
          </a:p>
          <a:p>
            <a:pPr indent="0" marL="0">
              <a:lnSpc>
                <a:spcPts val="1700"/>
              </a:lnSpc>
              <a:buNone/>
            </a:pPr>
            <a:r>
              <a:rPr lang="en-US" sz="1200" b="1" dirty="0">
                <a:solidFill>
                  <a:srgbClr val="2C5248"/>
                </a:solidFill>
              </a:rPr>
              <a:t>nginx base 1.27-alpine → 1.31-alpine</a:t>
            </a:r>
            <a:endParaRPr lang="en-US" sz="1200" dirty="0"/>
          </a:p>
          <a:p>
            <a:pPr indent="0" marL="0">
              <a:lnSpc>
                <a:spcPts val="1700"/>
              </a:lnSpc>
              <a:buNone/>
            </a:pPr>
            <a:r>
              <a:rPr lang="en-US" sz="800" dirty="0">
                <a:solidFill>
                  <a:srgbClr val="2C5248"/>
                </a:solidFill>
              </a:rPr>
              <a:t> </a:t>
            </a:r>
            <a:endParaRPr lang="en-US" sz="1200" dirty="0"/>
          </a:p>
          <a:p>
            <a:pPr indent="0" marL="0">
              <a:lnSpc>
                <a:spcPts val="1700"/>
              </a:lnSpc>
              <a:buNone/>
            </a:pPr>
            <a:r>
              <a:rPr lang="en-US" sz="1200" dirty="0">
                <a:solidFill>
                  <a:srgbClr val="2C5248"/>
                </a:solidFill>
              </a:rPr>
              <a:t>Both images scan clean on HIGH and CRITICAL. All 11 tests still pass on the new dependency set.</a:t>
            </a:r>
            <a:endParaRPr lang="en-US" sz="1200" dirty="0"/>
          </a:p>
          <a:p>
            <a:pPr indent="0" marL="0">
              <a:lnSpc>
                <a:spcPts val="1700"/>
              </a:lnSpc>
              <a:buNone/>
            </a:pPr>
            <a:r>
              <a:rPr lang="en-US" sz="800" dirty="0">
                <a:solidFill>
                  <a:srgbClr val="2C5248"/>
                </a:solidFill>
              </a:rPr>
              <a:t> </a:t>
            </a:r>
            <a:endParaRPr lang="en-US" sz="1200" dirty="0"/>
          </a:p>
          <a:p>
            <a:pPr indent="0" marL="0">
              <a:lnSpc>
                <a:spcPts val="1700"/>
              </a:lnSpc>
              <a:buNone/>
            </a:pPr>
            <a:r>
              <a:rPr lang="en-US" sz="1200" b="1" dirty="0">
                <a:solidFill>
                  <a:srgbClr val="2C5248"/>
                </a:solidFill>
                <a:latin typeface="Courier New" pitchFamily="34" charset="0"/>
                <a:ea typeface="Courier New" pitchFamily="34" charset="-122"/>
                <a:cs typeface="Courier New" pitchFamily="34" charset="-120"/>
              </a:rPr>
              <a:t>gate exit code = 0</a:t>
            </a:r>
            <a:endParaRPr lang="en-US" sz="1200" dirty="0"/>
          </a:p>
        </p:txBody>
      </p:sp>
      <p:sp>
        <p:nvSpPr>
          <p:cNvPr id="13" name="Shape 11"/>
          <p:cNvSpPr/>
          <p:nvPr/>
        </p:nvSpPr>
        <p:spPr>
          <a:xfrm>
            <a:off x="548640" y="4846320"/>
            <a:ext cx="11064240" cy="914400"/>
          </a:xfrm>
          <a:prstGeom prst="roundRect">
            <a:avLst>
              <a:gd name="adj" fmla="val 8000"/>
            </a:avLst>
          </a:prstGeom>
          <a:solidFill>
            <a:srgbClr val="FAF6F7"/>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4" name="Text 12"/>
          <p:cNvSpPr txBox="1"/>
          <p:nvPr/>
        </p:nvSpPr>
        <p:spPr>
          <a:xfrm>
            <a:off x="822960" y="5029200"/>
            <a:ext cx="10515600" cy="594360"/>
          </a:xfrm>
          <a:prstGeom prst="rect">
            <a:avLst/>
          </a:prstGeom>
          <a:noFill/>
          <a:ln/>
        </p:spPr>
        <p:txBody>
          <a:bodyPr wrap="square" lIns="0" tIns="0" rIns="0" bIns="0" rtlCol="0" anchor="ctr"/>
          <a:lstStyle/>
          <a:p>
            <a:pPr indent="0" marL="0">
              <a:lnSpc>
                <a:spcPts val="1700"/>
              </a:lnSpc>
              <a:buNone/>
            </a:pPr>
            <a:r>
              <a:rPr lang="en-US" sz="1200" b="1" dirty="0">
                <a:solidFill>
                  <a:schemeClr val="tx1"/>
                </a:solidFill>
              </a:rPr>
              <a:t>Why the gate uses --ignore-unfixed:  </a:t>
            </a:r>
            <a:pPr indent="0" marL="0">
              <a:lnSpc>
                <a:spcPts val="1700"/>
              </a:lnSpc>
              <a:buNone/>
            </a:pPr>
            <a:r>
              <a:rPr lang="en-US" sz="1200" dirty="0">
                <a:solidFill>
                  <a:schemeClr val="tx1"/>
                </a:solidFill>
              </a:rPr>
              <a:t>a strict gate fails on CVEs with no patch published, so nobody can ship until an upstream maintainer cuts a release - and people switch the gate off. Failing only on what I can act on keeps it credible. The report step still prints everything.</a:t>
            </a:r>
            <a:endParaRPr lang="en-US" sz="12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Infrastructure as code</a:t>
            </a:r>
            <a:endParaRPr lang="en-US" sz="3200" dirty="0"/>
          </a:p>
        </p:txBody>
      </p:sp>
      <p:sp>
        <p:nvSpPr>
          <p:cNvPr id="3" name="Text 1"/>
          <p:cNvSpPr txBox="1"/>
          <p:nvPr/>
        </p:nvSpPr>
        <p:spPr>
          <a:xfrm>
            <a:off x="548640" y="1417320"/>
            <a:ext cx="2377440" cy="1005840"/>
          </a:xfrm>
          <a:prstGeom prst="rect">
            <a:avLst/>
          </a:prstGeom>
          <a:noFill/>
          <a:ln/>
        </p:spPr>
        <p:txBody>
          <a:bodyPr wrap="square" lIns="0" tIns="0" rIns="0" bIns="0" rtlCol="0" anchor="ctr"/>
          <a:lstStyle/>
          <a:p>
            <a:pPr algn="l" indent="0" marL="0">
              <a:buNone/>
            </a:pPr>
            <a:r>
              <a:rPr lang="en-US" sz="6400" b="1" dirty="0">
                <a:solidFill>
                  <a:srgbClr val="6D2E46"/>
                </a:solidFill>
              </a:rPr>
              <a:t>15</a:t>
            </a:r>
            <a:endParaRPr lang="en-US" sz="6400" dirty="0"/>
          </a:p>
        </p:txBody>
      </p:sp>
      <p:sp>
        <p:nvSpPr>
          <p:cNvPr id="4" name="Text 2"/>
          <p:cNvSpPr txBox="1"/>
          <p:nvPr/>
        </p:nvSpPr>
        <p:spPr>
          <a:xfrm>
            <a:off x="594360" y="2395728"/>
            <a:ext cx="2560320" cy="365760"/>
          </a:xfrm>
          <a:prstGeom prst="rect">
            <a:avLst/>
          </a:prstGeom>
          <a:noFill/>
          <a:ln/>
        </p:spPr>
        <p:txBody>
          <a:bodyPr wrap="square" lIns="0" tIns="0" rIns="0" bIns="0" rtlCol="0" anchor="ctr"/>
          <a:lstStyle/>
          <a:p>
            <a:pPr indent="0" marL="0">
              <a:buNone/>
            </a:pPr>
            <a:r>
              <a:rPr lang="en-US" sz="1300" dirty="0">
                <a:solidFill>
                  <a:srgbClr val="6E5C62"/>
                </a:solidFill>
              </a:rPr>
              <a:t>resources in the plan</a:t>
            </a:r>
            <a:endParaRPr lang="en-US" sz="1300" dirty="0"/>
          </a:p>
        </p:txBody>
      </p:sp>
      <p:sp>
        <p:nvSpPr>
          <p:cNvPr id="5" name="Text 3"/>
          <p:cNvSpPr txBox="1"/>
          <p:nvPr/>
        </p:nvSpPr>
        <p:spPr>
          <a:xfrm>
            <a:off x="594360" y="2926080"/>
            <a:ext cx="2651760" cy="1188720"/>
          </a:xfrm>
          <a:prstGeom prst="rect">
            <a:avLst/>
          </a:prstGeom>
          <a:noFill/>
          <a:ln/>
        </p:spPr>
        <p:txBody>
          <a:bodyPr wrap="square" lIns="0" tIns="0" rIns="0" bIns="0" rtlCol="0" anchor="ctr"/>
          <a:lstStyle/>
          <a:p>
            <a:pPr indent="0" marL="0">
              <a:lnSpc>
                <a:spcPts val="1700"/>
              </a:lnSpc>
              <a:buNone/>
            </a:pPr>
            <a:r>
              <a:rPr lang="en-US" sz="1150" dirty="0">
                <a:solidFill>
                  <a:srgbClr val="2E7D63"/>
                </a:solidFill>
                <a:latin typeface="Courier New" pitchFamily="34" charset="0"/>
                <a:ea typeface="Courier New" pitchFamily="34" charset="-122"/>
                <a:cs typeface="Courier New" pitchFamily="34" charset="-120"/>
              </a:rPr>
              <a:t>terraform init</a:t>
            </a:r>
            <a:endParaRPr lang="en-US" sz="1150" dirty="0"/>
          </a:p>
          <a:p>
            <a:pPr indent="0" marL="0">
              <a:lnSpc>
                <a:spcPts val="1700"/>
              </a:lnSpc>
              <a:buNone/>
            </a:pPr>
            <a:r>
              <a:rPr lang="en-US" sz="1150" dirty="0">
                <a:solidFill>
                  <a:srgbClr val="2E7D63"/>
                </a:solidFill>
                <a:latin typeface="Courier New" pitchFamily="34" charset="0"/>
                <a:ea typeface="Courier New" pitchFamily="34" charset="-122"/>
                <a:cs typeface="Courier New" pitchFamily="34" charset="-120"/>
              </a:rPr>
              <a:t>terraform fmt -check</a:t>
            </a:r>
            <a:endParaRPr lang="en-US" sz="1150" dirty="0"/>
          </a:p>
          <a:p>
            <a:pPr indent="0" marL="0">
              <a:lnSpc>
                <a:spcPts val="1700"/>
              </a:lnSpc>
              <a:buNone/>
            </a:pPr>
            <a:r>
              <a:rPr lang="en-US" sz="1150" dirty="0">
                <a:solidFill>
                  <a:srgbClr val="2E7D63"/>
                </a:solidFill>
                <a:latin typeface="Courier New" pitchFamily="34" charset="0"/>
                <a:ea typeface="Courier New" pitchFamily="34" charset="-122"/>
                <a:cs typeface="Courier New" pitchFamily="34" charset="-120"/>
              </a:rPr>
              <a:t>terraform validate</a:t>
            </a:r>
            <a:endParaRPr lang="en-US" sz="1150" dirty="0"/>
          </a:p>
          <a:p>
            <a:pPr indent="0" marL="0">
              <a:lnSpc>
                <a:spcPts val="1700"/>
              </a:lnSpc>
              <a:buNone/>
            </a:pPr>
            <a:r>
              <a:rPr lang="en-US" sz="1150" dirty="0">
                <a:solidFill>
                  <a:srgbClr val="2E7D63"/>
                </a:solidFill>
                <a:latin typeface="Courier New" pitchFamily="34" charset="0"/>
                <a:ea typeface="Courier New" pitchFamily="34" charset="-122"/>
                <a:cs typeface="Courier New" pitchFamily="34" charset="-120"/>
              </a:rPr>
              <a:t>terraform plan</a:t>
            </a:r>
            <a:endParaRPr lang="en-US" sz="1150" dirty="0"/>
          </a:p>
        </p:txBody>
      </p:sp>
      <p:sp>
        <p:nvSpPr>
          <p:cNvPr id="6" name="Shape 4"/>
          <p:cNvSpPr/>
          <p:nvPr/>
        </p:nvSpPr>
        <p:spPr>
          <a:xfrm>
            <a:off x="3566160" y="1572768"/>
            <a:ext cx="128016" cy="128016"/>
          </a:xfrm>
          <a:prstGeom prst="ellipse">
            <a:avLst/>
          </a:prstGeom>
          <a:solidFill>
            <a:srgbClr val="A26769"/>
          </a:solidFill>
          <a:ln w="12700">
            <a:solidFill>
              <a:srgbClr val="A26769"/>
            </a:solidFill>
            <a:prstDash val="solid"/>
          </a:ln>
        </p:spPr>
      </p:sp>
      <p:sp>
        <p:nvSpPr>
          <p:cNvPr id="7" name="Text 5"/>
          <p:cNvSpPr txBox="1"/>
          <p:nvPr/>
        </p:nvSpPr>
        <p:spPr>
          <a:xfrm>
            <a:off x="3840480" y="1463040"/>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VPC</a:t>
            </a:r>
            <a:endParaRPr lang="en-US" sz="1300" dirty="0"/>
          </a:p>
        </p:txBody>
      </p:sp>
      <p:sp>
        <p:nvSpPr>
          <p:cNvPr id="8" name="Text 6"/>
          <p:cNvSpPr txBox="1"/>
          <p:nvPr/>
        </p:nvSpPr>
        <p:spPr>
          <a:xfrm>
            <a:off x="6766560" y="1463040"/>
            <a:ext cx="4846320" cy="347472"/>
          </a:xfrm>
          <a:prstGeom prst="rect">
            <a:avLst/>
          </a:prstGeom>
          <a:noFill/>
          <a:ln/>
        </p:spPr>
        <p:txBody>
          <a:bodyPr wrap="square" lIns="0" tIns="0" rIns="0" bIns="0" rtlCol="0" anchor="ctr"/>
          <a:lstStyle/>
          <a:p>
            <a:pPr indent="0" marL="0">
              <a:buNone/>
            </a:pPr>
            <a:r>
              <a:rPr lang="en-US" sz="1200" dirty="0">
                <a:solidFill>
                  <a:srgbClr val="6E5C62"/>
                </a:solidFill>
              </a:rPr>
              <a:t>10.30.0.0/16, DNS on</a:t>
            </a:r>
            <a:endParaRPr lang="en-US" sz="1200" dirty="0"/>
          </a:p>
        </p:txBody>
      </p:sp>
      <p:sp>
        <p:nvSpPr>
          <p:cNvPr id="9" name="Shape 7"/>
          <p:cNvSpPr/>
          <p:nvPr/>
        </p:nvSpPr>
        <p:spPr>
          <a:xfrm>
            <a:off x="3566160" y="2148840"/>
            <a:ext cx="128016" cy="128016"/>
          </a:xfrm>
          <a:prstGeom prst="ellipse">
            <a:avLst/>
          </a:prstGeom>
          <a:solidFill>
            <a:srgbClr val="A26769"/>
          </a:solidFill>
          <a:ln w="12700">
            <a:solidFill>
              <a:srgbClr val="A26769"/>
            </a:solidFill>
            <a:prstDash val="solid"/>
          </a:ln>
        </p:spPr>
      </p:sp>
      <p:sp>
        <p:nvSpPr>
          <p:cNvPr id="10" name="Text 8"/>
          <p:cNvSpPr txBox="1"/>
          <p:nvPr/>
        </p:nvSpPr>
        <p:spPr>
          <a:xfrm>
            <a:off x="3840480" y="2039112"/>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2 public subnets</a:t>
            </a:r>
            <a:endParaRPr lang="en-US" sz="1300" dirty="0"/>
          </a:p>
        </p:txBody>
      </p:sp>
      <p:sp>
        <p:nvSpPr>
          <p:cNvPr id="11" name="Text 9"/>
          <p:cNvSpPr txBox="1"/>
          <p:nvPr/>
        </p:nvSpPr>
        <p:spPr>
          <a:xfrm>
            <a:off x="6766560" y="2039112"/>
            <a:ext cx="4846320" cy="347472"/>
          </a:xfrm>
          <a:prstGeom prst="rect">
            <a:avLst/>
          </a:prstGeom>
          <a:noFill/>
          <a:ln/>
        </p:spPr>
        <p:txBody>
          <a:bodyPr wrap="square" lIns="0" tIns="0" rIns="0" bIns="0" rtlCol="0" anchor="ctr"/>
          <a:lstStyle/>
          <a:p>
            <a:pPr indent="0" marL="0">
              <a:buNone/>
            </a:pPr>
            <a:r>
              <a:rPr lang="en-US" sz="1200" dirty="0">
                <a:solidFill>
                  <a:srgbClr val="6E5C62"/>
                </a:solidFill>
              </a:rPr>
              <a:t>ap-south-1a and 1b - EKS refuses a single AZ</a:t>
            </a:r>
            <a:endParaRPr lang="en-US" sz="1200" dirty="0"/>
          </a:p>
        </p:txBody>
      </p:sp>
      <p:sp>
        <p:nvSpPr>
          <p:cNvPr id="12" name="Shape 10"/>
          <p:cNvSpPr/>
          <p:nvPr/>
        </p:nvSpPr>
        <p:spPr>
          <a:xfrm>
            <a:off x="3566160" y="2724912"/>
            <a:ext cx="128016" cy="128016"/>
          </a:xfrm>
          <a:prstGeom prst="ellipse">
            <a:avLst/>
          </a:prstGeom>
          <a:solidFill>
            <a:srgbClr val="A26769"/>
          </a:solidFill>
          <a:ln w="12700">
            <a:solidFill>
              <a:srgbClr val="A26769"/>
            </a:solidFill>
            <a:prstDash val="solid"/>
          </a:ln>
        </p:spPr>
      </p:sp>
      <p:sp>
        <p:nvSpPr>
          <p:cNvPr id="13" name="Text 11"/>
          <p:cNvSpPr txBox="1"/>
          <p:nvPr/>
        </p:nvSpPr>
        <p:spPr>
          <a:xfrm>
            <a:off x="3840480" y="2615184"/>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Internet gateway + route table</a:t>
            </a:r>
            <a:endParaRPr lang="en-US" sz="1300" dirty="0"/>
          </a:p>
        </p:txBody>
      </p:sp>
      <p:sp>
        <p:nvSpPr>
          <p:cNvPr id="14" name="Text 12"/>
          <p:cNvSpPr txBox="1"/>
          <p:nvPr/>
        </p:nvSpPr>
        <p:spPr>
          <a:xfrm>
            <a:off x="6766560" y="2615184"/>
            <a:ext cx="4846320" cy="347472"/>
          </a:xfrm>
          <a:prstGeom prst="rect">
            <a:avLst/>
          </a:prstGeom>
          <a:noFill/>
          <a:ln/>
        </p:spPr>
        <p:txBody>
          <a:bodyPr wrap="square" lIns="0" tIns="0" rIns="0" bIns="0" rtlCol="0" anchor="ctr"/>
          <a:lstStyle/>
          <a:p>
            <a:pPr indent="0" marL="0">
              <a:buNone/>
            </a:pPr>
            <a:r>
              <a:rPr lang="en-US" sz="1200" dirty="0">
                <a:solidFill>
                  <a:srgbClr val="6E5C62"/>
                </a:solidFill>
              </a:rPr>
              <a:t>the 0.0.0.0/0 route is what makes a subnet public</a:t>
            </a:r>
            <a:endParaRPr lang="en-US" sz="1200" dirty="0"/>
          </a:p>
        </p:txBody>
      </p:sp>
      <p:sp>
        <p:nvSpPr>
          <p:cNvPr id="15" name="Shape 13"/>
          <p:cNvSpPr/>
          <p:nvPr/>
        </p:nvSpPr>
        <p:spPr>
          <a:xfrm>
            <a:off x="3566160" y="3300984"/>
            <a:ext cx="128016" cy="128016"/>
          </a:xfrm>
          <a:prstGeom prst="ellipse">
            <a:avLst/>
          </a:prstGeom>
          <a:solidFill>
            <a:srgbClr val="A26769"/>
          </a:solidFill>
          <a:ln w="12700">
            <a:solidFill>
              <a:srgbClr val="A26769"/>
            </a:solidFill>
            <a:prstDash val="solid"/>
          </a:ln>
        </p:spPr>
      </p:sp>
      <p:sp>
        <p:nvSpPr>
          <p:cNvPr id="16" name="Text 14"/>
          <p:cNvSpPr txBox="1"/>
          <p:nvPr/>
        </p:nvSpPr>
        <p:spPr>
          <a:xfrm>
            <a:off x="3840480" y="3191256"/>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4 IAM objects</a:t>
            </a:r>
            <a:endParaRPr lang="en-US" sz="1300" dirty="0"/>
          </a:p>
        </p:txBody>
      </p:sp>
      <p:sp>
        <p:nvSpPr>
          <p:cNvPr id="17" name="Text 15"/>
          <p:cNvSpPr txBox="1"/>
          <p:nvPr/>
        </p:nvSpPr>
        <p:spPr>
          <a:xfrm>
            <a:off x="6766560" y="3191256"/>
            <a:ext cx="4846320" cy="347472"/>
          </a:xfrm>
          <a:prstGeom prst="rect">
            <a:avLst/>
          </a:prstGeom>
          <a:noFill/>
          <a:ln/>
        </p:spPr>
        <p:txBody>
          <a:bodyPr wrap="square" lIns="0" tIns="0" rIns="0" bIns="0" rtlCol="0" anchor="ctr"/>
          <a:lstStyle/>
          <a:p>
            <a:pPr indent="0" marL="0">
              <a:buNone/>
            </a:pPr>
            <a:r>
              <a:rPr lang="en-US" sz="1200" dirty="0">
                <a:solidFill>
                  <a:srgbClr val="6E5C62"/>
                </a:solidFill>
              </a:rPr>
              <a:t>one role for the control plane, one for the nodes</a:t>
            </a:r>
            <a:endParaRPr lang="en-US" sz="1200" dirty="0"/>
          </a:p>
        </p:txBody>
      </p:sp>
      <p:sp>
        <p:nvSpPr>
          <p:cNvPr id="18" name="Shape 16"/>
          <p:cNvSpPr/>
          <p:nvPr/>
        </p:nvSpPr>
        <p:spPr>
          <a:xfrm>
            <a:off x="3566160" y="3877056"/>
            <a:ext cx="128016" cy="128016"/>
          </a:xfrm>
          <a:prstGeom prst="ellipse">
            <a:avLst/>
          </a:prstGeom>
          <a:solidFill>
            <a:srgbClr val="A26769"/>
          </a:solidFill>
          <a:ln w="12700">
            <a:solidFill>
              <a:srgbClr val="A26769"/>
            </a:solidFill>
            <a:prstDash val="solid"/>
          </a:ln>
        </p:spPr>
      </p:sp>
      <p:sp>
        <p:nvSpPr>
          <p:cNvPr id="19" name="Text 17"/>
          <p:cNvSpPr txBox="1"/>
          <p:nvPr/>
        </p:nvSpPr>
        <p:spPr>
          <a:xfrm>
            <a:off x="3840480" y="3767328"/>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EKS cluster</a:t>
            </a:r>
            <a:endParaRPr lang="en-US" sz="1300" dirty="0"/>
          </a:p>
        </p:txBody>
      </p:sp>
      <p:sp>
        <p:nvSpPr>
          <p:cNvPr id="20" name="Text 18"/>
          <p:cNvSpPr txBox="1"/>
          <p:nvPr/>
        </p:nvSpPr>
        <p:spPr>
          <a:xfrm>
            <a:off x="6766560" y="3767328"/>
            <a:ext cx="4846320" cy="347472"/>
          </a:xfrm>
          <a:prstGeom prst="rect">
            <a:avLst/>
          </a:prstGeom>
          <a:noFill/>
          <a:ln/>
        </p:spPr>
        <p:txBody>
          <a:bodyPr wrap="square" lIns="0" tIns="0" rIns="0" bIns="0" rtlCol="0" anchor="ctr"/>
          <a:lstStyle/>
          <a:p>
            <a:pPr indent="0" marL="0">
              <a:buNone/>
            </a:pPr>
            <a:r>
              <a:rPr lang="en-US" sz="1200" dirty="0">
                <a:solidFill>
                  <a:srgbClr val="6E5C62"/>
                </a:solidFill>
              </a:rPr>
              <a:t>Kubernetes 1.31</a:t>
            </a:r>
            <a:endParaRPr lang="en-US" sz="1200" dirty="0"/>
          </a:p>
        </p:txBody>
      </p:sp>
      <p:sp>
        <p:nvSpPr>
          <p:cNvPr id="21" name="Shape 19"/>
          <p:cNvSpPr/>
          <p:nvPr/>
        </p:nvSpPr>
        <p:spPr>
          <a:xfrm>
            <a:off x="3566160" y="4453128"/>
            <a:ext cx="128016" cy="128016"/>
          </a:xfrm>
          <a:prstGeom prst="ellipse">
            <a:avLst/>
          </a:prstGeom>
          <a:solidFill>
            <a:srgbClr val="A26769"/>
          </a:solidFill>
          <a:ln w="12700">
            <a:solidFill>
              <a:srgbClr val="A26769"/>
            </a:solidFill>
            <a:prstDash val="solid"/>
          </a:ln>
        </p:spPr>
      </p:sp>
      <p:sp>
        <p:nvSpPr>
          <p:cNvPr id="22" name="Text 20"/>
          <p:cNvSpPr txBox="1"/>
          <p:nvPr/>
        </p:nvSpPr>
        <p:spPr>
          <a:xfrm>
            <a:off x="3840480" y="4343400"/>
            <a:ext cx="2926080" cy="347472"/>
          </a:xfrm>
          <a:prstGeom prst="rect">
            <a:avLst/>
          </a:prstGeom>
          <a:noFill/>
          <a:ln/>
        </p:spPr>
        <p:txBody>
          <a:bodyPr wrap="square" lIns="0" tIns="0" rIns="0" bIns="0" rtlCol="0" anchor="ctr"/>
          <a:lstStyle/>
          <a:p>
            <a:pPr indent="0" marL="0">
              <a:buNone/>
            </a:pPr>
            <a:r>
              <a:rPr lang="en-US" sz="1300" b="1" dirty="0">
                <a:solidFill>
                  <a:schemeClr val="tx2"/>
                </a:solidFill>
              </a:rPr>
              <a:t>Managed node group</a:t>
            </a:r>
            <a:endParaRPr lang="en-US" sz="1300" dirty="0"/>
          </a:p>
        </p:txBody>
      </p:sp>
      <p:sp>
        <p:nvSpPr>
          <p:cNvPr id="23" name="Text 21"/>
          <p:cNvSpPr txBox="1"/>
          <p:nvPr/>
        </p:nvSpPr>
        <p:spPr>
          <a:xfrm>
            <a:off x="6766560" y="4343400"/>
            <a:ext cx="4846320" cy="347472"/>
          </a:xfrm>
          <a:prstGeom prst="rect">
            <a:avLst/>
          </a:prstGeom>
          <a:noFill/>
          <a:ln/>
        </p:spPr>
        <p:txBody>
          <a:bodyPr wrap="square" lIns="0" tIns="0" rIns="0" bIns="0" rtlCol="0" anchor="ctr"/>
          <a:lstStyle/>
          <a:p>
            <a:pPr indent="0" marL="0">
              <a:buNone/>
            </a:pPr>
            <a:r>
              <a:rPr lang="en-US" sz="1200" dirty="0">
                <a:solidFill>
                  <a:srgbClr val="6E5C62"/>
                </a:solidFill>
              </a:rPr>
              <a:t>2 × t3.medium, min 1 max 4</a:t>
            </a:r>
            <a:endParaRPr lang="en-US" sz="1200" dirty="0"/>
          </a:p>
        </p:txBody>
      </p:sp>
      <p:sp>
        <p:nvSpPr>
          <p:cNvPr id="24" name="Shape 22"/>
          <p:cNvSpPr/>
          <p:nvPr/>
        </p:nvSpPr>
        <p:spPr>
          <a:xfrm>
            <a:off x="548640" y="5029200"/>
            <a:ext cx="11064240" cy="914400"/>
          </a:xfrm>
          <a:prstGeom prst="roundRect">
            <a:avLst>
              <a:gd name="adj" fmla="val 8000"/>
            </a:avLst>
          </a:prstGeom>
          <a:solidFill>
            <a:srgbClr val="FFF8EC"/>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5" name="Text 23"/>
          <p:cNvSpPr txBox="1"/>
          <p:nvPr/>
        </p:nvSpPr>
        <p:spPr>
          <a:xfrm>
            <a:off x="822960" y="5193792"/>
            <a:ext cx="10515600" cy="640080"/>
          </a:xfrm>
          <a:prstGeom prst="rect">
            <a:avLst/>
          </a:prstGeom>
          <a:noFill/>
          <a:ln/>
        </p:spPr>
        <p:txBody>
          <a:bodyPr wrap="square" lIns="0" tIns="0" rIns="0" bIns="0" rtlCol="0" anchor="ctr"/>
          <a:lstStyle/>
          <a:p>
            <a:pPr indent="0" marL="0">
              <a:lnSpc>
                <a:spcPts val="1700"/>
              </a:lnSpc>
              <a:buNone/>
            </a:pPr>
            <a:r>
              <a:rPr lang="en-US" sz="1200" b="1" dirty="0">
                <a:solidFill>
                  <a:srgbClr val="8A5A12"/>
                </a:solidFill>
              </a:rPr>
              <a:t>Known limitation:  </a:t>
            </a:r>
            <a:pPr indent="0" marL="0">
              <a:lnSpc>
                <a:spcPts val="1700"/>
              </a:lnSpc>
              <a:buNone/>
            </a:pPr>
            <a:r>
              <a:rPr lang="en-US" sz="1200" dirty="0">
                <a:solidFill>
                  <a:srgbClr val="6E5C62"/>
                </a:solidFill>
              </a:rPr>
              <a:t>I have no AWS account with billing, so I never ran apply or destroy and there is no AWS Console screenshot. The plan is real - it runs against the AWS provider with the credential calls skipped, which is why it works offline. The config has no modules and no data sources, which is exactly what makes that possible.</a:t>
            </a:r>
            <a:endParaRPr lang="en-US" sz="12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Kubernetes and Helm</a:t>
            </a:r>
            <a:endParaRPr lang="en-US" sz="3200" dirty="0"/>
          </a:p>
        </p:txBody>
      </p:sp>
      <p:sp>
        <p:nvSpPr>
          <p:cNvPr id="3" name="Shape 1"/>
          <p:cNvSpPr/>
          <p:nvPr/>
        </p:nvSpPr>
        <p:spPr>
          <a:xfrm>
            <a:off x="548640" y="1417320"/>
            <a:ext cx="6858000" cy="749808"/>
          </a:xfrm>
          <a:prstGeom prst="roundRect">
            <a:avLst>
              <a:gd name="adj" fmla="val 975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4" name="Text 2"/>
          <p:cNvSpPr txBox="1"/>
          <p:nvPr/>
        </p:nvSpPr>
        <p:spPr>
          <a:xfrm>
            <a:off x="777240" y="1490472"/>
            <a:ext cx="2651760" cy="301752"/>
          </a:xfrm>
          <a:prstGeom prst="rect">
            <a:avLst/>
          </a:prstGeom>
          <a:noFill/>
          <a:ln/>
        </p:spPr>
        <p:txBody>
          <a:bodyPr wrap="square" lIns="0" tIns="0" rIns="0" bIns="0" rtlCol="0" anchor="ctr"/>
          <a:lstStyle/>
          <a:p>
            <a:pPr indent="0" marL="0">
              <a:buNone/>
            </a:pPr>
            <a:r>
              <a:rPr lang="en-US" sz="1200" b="1" dirty="0">
                <a:solidFill>
                  <a:srgbClr val="6D2E46"/>
                </a:solidFill>
                <a:latin typeface="Courier New" pitchFamily="34" charset="0"/>
                <a:ea typeface="Courier New" pitchFamily="34" charset="-122"/>
                <a:cs typeface="Courier New" pitchFamily="34" charset="-120"/>
              </a:rPr>
              <a:t>postgres.yaml</a:t>
            </a:r>
            <a:endParaRPr lang="en-US" sz="1200" dirty="0"/>
          </a:p>
        </p:txBody>
      </p:sp>
      <p:sp>
        <p:nvSpPr>
          <p:cNvPr id="5" name="Text 3"/>
          <p:cNvSpPr txBox="1"/>
          <p:nvPr/>
        </p:nvSpPr>
        <p:spPr>
          <a:xfrm>
            <a:off x="777240" y="1783080"/>
            <a:ext cx="6400800" cy="347472"/>
          </a:xfrm>
          <a:prstGeom prst="rect">
            <a:avLst/>
          </a:prstGeom>
          <a:noFill/>
          <a:ln/>
        </p:spPr>
        <p:txBody>
          <a:bodyPr wrap="square" lIns="0" tIns="0" rIns="0" bIns="0" rtlCol="0" anchor="ctr"/>
          <a:lstStyle/>
          <a:p>
            <a:pPr indent="0" marL="0">
              <a:lnSpc>
                <a:spcPts val="1400"/>
              </a:lnSpc>
              <a:buNone/>
            </a:pPr>
            <a:r>
              <a:rPr lang="en-US" sz="1100" dirty="0">
                <a:solidFill>
                  <a:srgbClr val="6E5C62"/>
                </a:solidFill>
              </a:rPr>
              <a:t>Secret, PVC, Service, Deployment with a Recreate strategy - two Postgres pods cannot share one volume</a:t>
            </a:r>
            <a:endParaRPr lang="en-US" sz="1100" dirty="0"/>
          </a:p>
        </p:txBody>
      </p:sp>
      <p:sp>
        <p:nvSpPr>
          <p:cNvPr id="6" name="Shape 4"/>
          <p:cNvSpPr/>
          <p:nvPr/>
        </p:nvSpPr>
        <p:spPr>
          <a:xfrm>
            <a:off x="548640" y="2286000"/>
            <a:ext cx="6858000" cy="749808"/>
          </a:xfrm>
          <a:prstGeom prst="roundRect">
            <a:avLst>
              <a:gd name="adj" fmla="val 975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7" name="Text 5"/>
          <p:cNvSpPr txBox="1"/>
          <p:nvPr/>
        </p:nvSpPr>
        <p:spPr>
          <a:xfrm>
            <a:off x="777240" y="2359152"/>
            <a:ext cx="2651760" cy="301752"/>
          </a:xfrm>
          <a:prstGeom prst="rect">
            <a:avLst/>
          </a:prstGeom>
          <a:noFill/>
          <a:ln/>
        </p:spPr>
        <p:txBody>
          <a:bodyPr wrap="square" lIns="0" tIns="0" rIns="0" bIns="0" rtlCol="0" anchor="ctr"/>
          <a:lstStyle/>
          <a:p>
            <a:pPr indent="0" marL="0">
              <a:buNone/>
            </a:pPr>
            <a:r>
              <a:rPr lang="en-US" sz="1200" b="1" dirty="0">
                <a:solidFill>
                  <a:srgbClr val="6D2E46"/>
                </a:solidFill>
                <a:latin typeface="Courier New" pitchFamily="34" charset="0"/>
                <a:ea typeface="Courier New" pitchFamily="34" charset="-122"/>
                <a:cs typeface="Courier New" pitchFamily="34" charset="-120"/>
              </a:rPr>
              <a:t>backend-deployment.yaml</a:t>
            </a:r>
            <a:endParaRPr lang="en-US" sz="1200" dirty="0"/>
          </a:p>
        </p:txBody>
      </p:sp>
      <p:sp>
        <p:nvSpPr>
          <p:cNvPr id="8" name="Text 6"/>
          <p:cNvSpPr txBox="1"/>
          <p:nvPr/>
        </p:nvSpPr>
        <p:spPr>
          <a:xfrm>
            <a:off x="777240" y="2651760"/>
            <a:ext cx="6400800" cy="347472"/>
          </a:xfrm>
          <a:prstGeom prst="rect">
            <a:avLst/>
          </a:prstGeom>
          <a:noFill/>
          <a:ln/>
        </p:spPr>
        <p:txBody>
          <a:bodyPr wrap="square" lIns="0" tIns="0" rIns="0" bIns="0" rtlCol="0" anchor="ctr"/>
          <a:lstStyle/>
          <a:p>
            <a:pPr indent="0" marL="0">
              <a:lnSpc>
                <a:spcPts val="1400"/>
              </a:lnSpc>
              <a:buNone/>
            </a:pPr>
            <a:r>
              <a:rPr lang="en-US" sz="1100" dirty="0">
                <a:solidFill>
                  <a:srgbClr val="6E5C62"/>
                </a:solidFill>
              </a:rPr>
              <a:t>2 replicas, initContainer that waits for Postgres, /ready and /health probes, resource requests and limits</a:t>
            </a:r>
            <a:endParaRPr lang="en-US" sz="1100" dirty="0"/>
          </a:p>
        </p:txBody>
      </p:sp>
      <p:sp>
        <p:nvSpPr>
          <p:cNvPr id="9" name="Shape 7"/>
          <p:cNvSpPr/>
          <p:nvPr/>
        </p:nvSpPr>
        <p:spPr>
          <a:xfrm>
            <a:off x="548640" y="3154680"/>
            <a:ext cx="6858000" cy="749808"/>
          </a:xfrm>
          <a:prstGeom prst="roundRect">
            <a:avLst>
              <a:gd name="adj" fmla="val 975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0" name="Text 8"/>
          <p:cNvSpPr txBox="1"/>
          <p:nvPr/>
        </p:nvSpPr>
        <p:spPr>
          <a:xfrm>
            <a:off x="777240" y="3227832"/>
            <a:ext cx="2651760" cy="301752"/>
          </a:xfrm>
          <a:prstGeom prst="rect">
            <a:avLst/>
          </a:prstGeom>
          <a:noFill/>
          <a:ln/>
        </p:spPr>
        <p:txBody>
          <a:bodyPr wrap="square" lIns="0" tIns="0" rIns="0" bIns="0" rtlCol="0" anchor="ctr"/>
          <a:lstStyle/>
          <a:p>
            <a:pPr indent="0" marL="0">
              <a:buNone/>
            </a:pPr>
            <a:r>
              <a:rPr lang="en-US" sz="1200" b="1" dirty="0">
                <a:solidFill>
                  <a:srgbClr val="6D2E46"/>
                </a:solidFill>
                <a:latin typeface="Courier New" pitchFamily="34" charset="0"/>
                <a:ea typeface="Courier New" pitchFamily="34" charset="-122"/>
                <a:cs typeface="Courier New" pitchFamily="34" charset="-120"/>
              </a:rPr>
              <a:t>frontend-deployment.yaml</a:t>
            </a:r>
            <a:endParaRPr lang="en-US" sz="1200" dirty="0"/>
          </a:p>
        </p:txBody>
      </p:sp>
      <p:sp>
        <p:nvSpPr>
          <p:cNvPr id="11" name="Text 9"/>
          <p:cNvSpPr txBox="1"/>
          <p:nvPr/>
        </p:nvSpPr>
        <p:spPr>
          <a:xfrm>
            <a:off x="777240" y="3520440"/>
            <a:ext cx="6400800" cy="347472"/>
          </a:xfrm>
          <a:prstGeom prst="rect">
            <a:avLst/>
          </a:prstGeom>
          <a:noFill/>
          <a:ln/>
        </p:spPr>
        <p:txBody>
          <a:bodyPr wrap="square" lIns="0" tIns="0" rIns="0" bIns="0" rtlCol="0" anchor="ctr"/>
          <a:lstStyle/>
          <a:p>
            <a:pPr indent="0" marL="0">
              <a:lnSpc>
                <a:spcPts val="1400"/>
              </a:lnSpc>
              <a:buNone/>
            </a:pPr>
            <a:r>
              <a:rPr lang="en-US" sz="1100" dirty="0">
                <a:solidFill>
                  <a:srgbClr val="6E5C62"/>
                </a:solidFill>
              </a:rPr>
              <a:t>2 replicas, probes on /, small CPU and memory footprint</a:t>
            </a:r>
            <a:endParaRPr lang="en-US" sz="1100" dirty="0"/>
          </a:p>
        </p:txBody>
      </p:sp>
      <p:sp>
        <p:nvSpPr>
          <p:cNvPr id="12" name="Shape 10"/>
          <p:cNvSpPr/>
          <p:nvPr/>
        </p:nvSpPr>
        <p:spPr>
          <a:xfrm>
            <a:off x="548640" y="4023360"/>
            <a:ext cx="6858000" cy="749808"/>
          </a:xfrm>
          <a:prstGeom prst="roundRect">
            <a:avLst>
              <a:gd name="adj" fmla="val 975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3" name="Text 11"/>
          <p:cNvSpPr txBox="1"/>
          <p:nvPr/>
        </p:nvSpPr>
        <p:spPr>
          <a:xfrm>
            <a:off x="777240" y="4096512"/>
            <a:ext cx="2651760" cy="301752"/>
          </a:xfrm>
          <a:prstGeom prst="rect">
            <a:avLst/>
          </a:prstGeom>
          <a:noFill/>
          <a:ln/>
        </p:spPr>
        <p:txBody>
          <a:bodyPr wrap="square" lIns="0" tIns="0" rIns="0" bIns="0" rtlCol="0" anchor="ctr"/>
          <a:lstStyle/>
          <a:p>
            <a:pPr indent="0" marL="0">
              <a:buNone/>
            </a:pPr>
            <a:r>
              <a:rPr lang="en-US" sz="1200" b="1" dirty="0">
                <a:solidFill>
                  <a:srgbClr val="6D2E46"/>
                </a:solidFill>
                <a:latin typeface="Courier New" pitchFamily="34" charset="0"/>
                <a:ea typeface="Courier New" pitchFamily="34" charset="-122"/>
                <a:cs typeface="Courier New" pitchFamily="34" charset="-120"/>
              </a:rPr>
              <a:t>ingress.yaml</a:t>
            </a:r>
            <a:endParaRPr lang="en-US" sz="1200" dirty="0"/>
          </a:p>
        </p:txBody>
      </p:sp>
      <p:sp>
        <p:nvSpPr>
          <p:cNvPr id="14" name="Text 12"/>
          <p:cNvSpPr txBox="1"/>
          <p:nvPr/>
        </p:nvSpPr>
        <p:spPr>
          <a:xfrm>
            <a:off x="777240" y="4389120"/>
            <a:ext cx="6400800" cy="347472"/>
          </a:xfrm>
          <a:prstGeom prst="rect">
            <a:avLst/>
          </a:prstGeom>
          <a:noFill/>
          <a:ln/>
        </p:spPr>
        <p:txBody>
          <a:bodyPr wrap="square" lIns="0" tIns="0" rIns="0" bIns="0" rtlCol="0" anchor="ctr"/>
          <a:lstStyle/>
          <a:p>
            <a:pPr indent="0" marL="0">
              <a:lnSpc>
                <a:spcPts val="1400"/>
              </a:lnSpc>
              <a:buNone/>
            </a:pPr>
            <a:r>
              <a:rPr lang="en-US" sz="1100" dirty="0">
                <a:solidFill>
                  <a:srgbClr val="6E5C62"/>
                </a:solidFill>
              </a:rPr>
              <a:t>/api to the backend, / to the frontend, over a list of hosts</a:t>
            </a:r>
            <a:endParaRPr lang="en-US" sz="1100" dirty="0"/>
          </a:p>
        </p:txBody>
      </p:sp>
      <p:sp>
        <p:nvSpPr>
          <p:cNvPr id="15" name="Shape 13"/>
          <p:cNvSpPr/>
          <p:nvPr/>
        </p:nvSpPr>
        <p:spPr>
          <a:xfrm>
            <a:off x="548640" y="4892040"/>
            <a:ext cx="6858000" cy="749808"/>
          </a:xfrm>
          <a:prstGeom prst="roundRect">
            <a:avLst>
              <a:gd name="adj" fmla="val 9756"/>
            </a:avLst>
          </a:prstGeom>
          <a:solidFill>
            <a:schemeClr val="bg2"/>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6" name="Text 14"/>
          <p:cNvSpPr txBox="1"/>
          <p:nvPr/>
        </p:nvSpPr>
        <p:spPr>
          <a:xfrm>
            <a:off x="777240" y="4965192"/>
            <a:ext cx="2651760" cy="301752"/>
          </a:xfrm>
          <a:prstGeom prst="rect">
            <a:avLst/>
          </a:prstGeom>
          <a:noFill/>
          <a:ln/>
        </p:spPr>
        <p:txBody>
          <a:bodyPr wrap="square" lIns="0" tIns="0" rIns="0" bIns="0" rtlCol="0" anchor="ctr"/>
          <a:lstStyle/>
          <a:p>
            <a:pPr indent="0" marL="0">
              <a:buNone/>
            </a:pPr>
            <a:r>
              <a:rPr lang="en-US" sz="1200" b="1" dirty="0">
                <a:solidFill>
                  <a:srgbClr val="6D2E46"/>
                </a:solidFill>
                <a:latin typeface="Courier New" pitchFamily="34" charset="0"/>
                <a:ea typeface="Courier New" pitchFamily="34" charset="-122"/>
                <a:cs typeface="Courier New" pitchFamily="34" charset="-120"/>
              </a:rPr>
              <a:t>hpa.yaml</a:t>
            </a:r>
            <a:endParaRPr lang="en-US" sz="1200" dirty="0"/>
          </a:p>
        </p:txBody>
      </p:sp>
      <p:sp>
        <p:nvSpPr>
          <p:cNvPr id="17" name="Text 15"/>
          <p:cNvSpPr txBox="1"/>
          <p:nvPr/>
        </p:nvSpPr>
        <p:spPr>
          <a:xfrm>
            <a:off x="777240" y="5257800"/>
            <a:ext cx="6400800" cy="347472"/>
          </a:xfrm>
          <a:prstGeom prst="rect">
            <a:avLst/>
          </a:prstGeom>
          <a:noFill/>
          <a:ln/>
        </p:spPr>
        <p:txBody>
          <a:bodyPr wrap="square" lIns="0" tIns="0" rIns="0" bIns="0" rtlCol="0" anchor="ctr"/>
          <a:lstStyle/>
          <a:p>
            <a:pPr indent="0" marL="0">
              <a:lnSpc>
                <a:spcPts val="1400"/>
              </a:lnSpc>
              <a:buNone/>
            </a:pPr>
            <a:r>
              <a:rPr lang="en-US" sz="1100" dirty="0">
                <a:solidFill>
                  <a:srgbClr val="6E5C62"/>
                </a:solidFill>
              </a:rPr>
              <a:t>scales the backend 2 → 5 at 70% CPU</a:t>
            </a:r>
            <a:endParaRPr lang="en-US" sz="1100" dirty="0"/>
          </a:p>
        </p:txBody>
      </p:sp>
      <p:sp>
        <p:nvSpPr>
          <p:cNvPr id="18" name="Shape 16"/>
          <p:cNvSpPr/>
          <p:nvPr/>
        </p:nvSpPr>
        <p:spPr>
          <a:xfrm>
            <a:off x="7680960" y="1417320"/>
            <a:ext cx="3931920" cy="3977640"/>
          </a:xfrm>
          <a:prstGeom prst="roundRect">
            <a:avLst>
              <a:gd name="adj" fmla="val 1860"/>
            </a:avLst>
          </a:prstGeom>
          <a:solidFill>
            <a:srgbClr val="F7FBF9"/>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9" name="Text 17"/>
          <p:cNvSpPr txBox="1"/>
          <p:nvPr/>
        </p:nvSpPr>
        <p:spPr>
          <a:xfrm>
            <a:off x="7909560" y="1600200"/>
            <a:ext cx="3566160" cy="365760"/>
          </a:xfrm>
          <a:prstGeom prst="rect">
            <a:avLst/>
          </a:prstGeom>
          <a:noFill/>
          <a:ln/>
        </p:spPr>
        <p:txBody>
          <a:bodyPr wrap="square" lIns="0" tIns="0" rIns="0" bIns="0" rtlCol="0" anchor="ctr"/>
          <a:lstStyle/>
          <a:p>
            <a:pPr indent="0" marL="0">
              <a:buNone/>
            </a:pPr>
            <a:r>
              <a:rPr lang="en-US" sz="1500" b="1" dirty="0">
                <a:solidFill>
                  <a:srgbClr val="2E7D63"/>
                </a:solidFill>
              </a:rPr>
              <a:t>Running in the cluster</a:t>
            </a:r>
            <a:endParaRPr lang="en-US" sz="1500" dirty="0"/>
          </a:p>
        </p:txBody>
      </p:sp>
      <p:sp>
        <p:nvSpPr>
          <p:cNvPr id="20" name="Text 18"/>
          <p:cNvSpPr txBox="1"/>
          <p:nvPr/>
        </p:nvSpPr>
        <p:spPr>
          <a:xfrm>
            <a:off x="7909560" y="2057400"/>
            <a:ext cx="3520440" cy="3200400"/>
          </a:xfrm>
          <a:prstGeom prst="rect">
            <a:avLst/>
          </a:prstGeom>
          <a:noFill/>
          <a:ln/>
        </p:spPr>
        <p:txBody>
          <a:bodyPr wrap="square" lIns="0" tIns="0" rIns="0" bIns="0" rtlCol="0" anchor="ctr"/>
          <a:lstStyle/>
          <a:p>
            <a:pPr indent="0" marL="0">
              <a:lnSpc>
                <a:spcPts val="1600"/>
              </a:lnSpc>
              <a:buNone/>
            </a:pPr>
            <a:r>
              <a:rPr lang="en-US" sz="1250" b="1" dirty="0">
                <a:solidFill>
                  <a:srgbClr val="2C5248"/>
                </a:solidFill>
              </a:rPr>
              <a:t>5 pods Running</a:t>
            </a:r>
            <a:endParaRPr lang="en-US" sz="1250" dirty="0"/>
          </a:p>
          <a:p>
            <a:pPr indent="0" marL="0">
              <a:lnSpc>
                <a:spcPts val="1600"/>
              </a:lnSpc>
              <a:buNone/>
            </a:pPr>
            <a:r>
              <a:rPr lang="en-US" sz="1100" dirty="0">
                <a:solidFill>
                  <a:srgbClr val="2C5248"/>
                </a:solidFill>
              </a:rPr>
              <a:t>2 backend · 2 frontend · 1 postgres</a:t>
            </a:r>
            <a:endParaRPr lang="en-US" sz="1250" dirty="0"/>
          </a:p>
          <a:p>
            <a:pPr indent="0" marL="0">
              <a:lnSpc>
                <a:spcPts val="1600"/>
              </a:lnSpc>
              <a:buNone/>
            </a:pPr>
            <a:r>
              <a:rPr lang="en-US" sz="800" dirty="0">
                <a:solidFill>
                  <a:srgbClr val="2C5248"/>
                </a:solidFill>
              </a:rPr>
              <a:t> </a:t>
            </a:r>
            <a:endParaRPr lang="en-US" sz="1250" dirty="0"/>
          </a:p>
          <a:p>
            <a:pPr indent="0" marL="0">
              <a:lnSpc>
                <a:spcPts val="1600"/>
              </a:lnSpc>
              <a:buNone/>
            </a:pPr>
            <a:r>
              <a:rPr lang="en-US" sz="1250" b="1" dirty="0">
                <a:solidFill>
                  <a:srgbClr val="2C5248"/>
                </a:solidFill>
              </a:rPr>
              <a:t>3 ClusterIP Services</a:t>
            </a:r>
            <a:endParaRPr lang="en-US" sz="1250" dirty="0"/>
          </a:p>
          <a:p>
            <a:pPr indent="0" marL="0">
              <a:lnSpc>
                <a:spcPts val="1600"/>
              </a:lnSpc>
              <a:buNone/>
            </a:pPr>
            <a:r>
              <a:rPr lang="en-US" sz="1100" dirty="0">
                <a:solidFill>
                  <a:srgbClr val="2C5248"/>
                </a:solidFill>
              </a:rPr>
              <a:t>nothing exposed except the Ingress</a:t>
            </a:r>
            <a:endParaRPr lang="en-US" sz="1250" dirty="0"/>
          </a:p>
          <a:p>
            <a:pPr indent="0" marL="0">
              <a:lnSpc>
                <a:spcPts val="1600"/>
              </a:lnSpc>
              <a:buNone/>
            </a:pPr>
            <a:r>
              <a:rPr lang="en-US" sz="800" dirty="0">
                <a:solidFill>
                  <a:srgbClr val="2C5248"/>
                </a:solidFill>
              </a:rPr>
              <a:t> </a:t>
            </a:r>
            <a:endParaRPr lang="en-US" sz="1250" dirty="0"/>
          </a:p>
          <a:p>
            <a:pPr indent="0" marL="0">
              <a:lnSpc>
                <a:spcPts val="1600"/>
              </a:lnSpc>
              <a:buNone/>
            </a:pPr>
            <a:r>
              <a:rPr lang="en-US" sz="1250" b="1" dirty="0">
                <a:solidFill>
                  <a:srgbClr val="2C5248"/>
                </a:solidFill>
              </a:rPr>
              <a:t>1 Ingress, 2 hosts</a:t>
            </a:r>
            <a:endParaRPr lang="en-US" sz="1250" dirty="0"/>
          </a:p>
          <a:p>
            <a:pPr indent="0" marL="0">
              <a:lnSpc>
                <a:spcPts val="1600"/>
              </a:lnSpc>
              <a:buNone/>
            </a:pPr>
            <a:r>
              <a:rPr lang="en-US" sz="1100" dirty="0">
                <a:solidFill>
                  <a:srgbClr val="2C5248"/>
                </a:solidFill>
              </a:rPr>
              <a:t>bookshelf.local and localhost</a:t>
            </a:r>
            <a:endParaRPr lang="en-US" sz="1250" dirty="0"/>
          </a:p>
          <a:p>
            <a:pPr indent="0" marL="0">
              <a:lnSpc>
                <a:spcPts val="1600"/>
              </a:lnSpc>
              <a:buNone/>
            </a:pPr>
            <a:r>
              <a:rPr lang="en-US" sz="800" dirty="0">
                <a:solidFill>
                  <a:srgbClr val="2C5248"/>
                </a:solidFill>
              </a:rPr>
              <a:t> </a:t>
            </a:r>
            <a:endParaRPr lang="en-US" sz="1250" dirty="0"/>
          </a:p>
          <a:p>
            <a:pPr indent="0" marL="0">
              <a:lnSpc>
                <a:spcPts val="1600"/>
              </a:lnSpc>
              <a:buNone/>
            </a:pPr>
            <a:r>
              <a:rPr lang="en-US" sz="1250" b="1" dirty="0">
                <a:solidFill>
                  <a:srgbClr val="2C5248"/>
                </a:solidFill>
              </a:rPr>
              <a:t>HPA: cpu 4% / 70%</a:t>
            </a:r>
            <a:endParaRPr lang="en-US" sz="1250" dirty="0"/>
          </a:p>
          <a:p>
            <a:pPr indent="0" marL="0">
              <a:lnSpc>
                <a:spcPts val="1600"/>
              </a:lnSpc>
              <a:buNone/>
            </a:pPr>
            <a:r>
              <a:rPr lang="en-US" sz="1100" dirty="0">
                <a:solidFill>
                  <a:srgbClr val="2C5248"/>
                </a:solidFill>
              </a:rPr>
              <a:t>min 2, max 5</a:t>
            </a:r>
            <a:endParaRPr lang="en-US" sz="1250" dirty="0"/>
          </a:p>
        </p:txBody>
      </p:sp>
      <p:sp>
        <p:nvSpPr>
          <p:cNvPr id="21" name="Text 19"/>
          <p:cNvSpPr txBox="1"/>
          <p:nvPr/>
        </p:nvSpPr>
        <p:spPr>
          <a:xfrm>
            <a:off x="548640" y="5577840"/>
            <a:ext cx="11064240" cy="548640"/>
          </a:xfrm>
          <a:prstGeom prst="rect">
            <a:avLst/>
          </a:prstGeom>
          <a:noFill/>
          <a:ln/>
        </p:spPr>
        <p:txBody>
          <a:bodyPr wrap="square" lIns="0" tIns="0" rIns="0" bIns="0" rtlCol="0" anchor="ctr"/>
          <a:lstStyle/>
          <a:p>
            <a:pPr indent="0" marL="0">
              <a:lnSpc>
                <a:spcPts val="1600"/>
              </a:lnSpc>
              <a:buNone/>
            </a:pPr>
            <a:r>
              <a:rPr lang="en-US" sz="1150" i="1" dirty="0">
                <a:solidFill>
                  <a:srgbClr val="6E5C62"/>
                </a:solidFill>
              </a:rPr>
              <a:t>The database password lives only in a Secret. The backend reads it with secretKeyRef and builds DATABASE_URL from it - which works only because Kubernetes expands $(VAR) for variables declared above it in the env list.</a:t>
            </a:r>
            <a:endParaRPr lang="en-US" sz="115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nchor="ctr"/>
          <a:lstStyle/>
          <a:p>
            <a:pPr algn="l" indent="0" marL="0">
              <a:buNone/>
            </a:pPr>
            <a:r>
              <a:rPr lang="en-US" sz="3200" b="1" dirty="0">
                <a:solidFill>
                  <a:schemeClr val="tx2"/>
                </a:solidFill>
              </a:rPr>
              <a:t>Observability</a:t>
            </a:r>
            <a:endParaRPr lang="en-US" sz="3200" dirty="0"/>
          </a:p>
        </p:txBody>
      </p:sp>
      <p:sp>
        <p:nvSpPr>
          <p:cNvPr id="3" name="Shape 1"/>
          <p:cNvSpPr/>
          <p:nvPr/>
        </p:nvSpPr>
        <p:spPr>
          <a:xfrm>
            <a:off x="548640" y="1463040"/>
            <a:ext cx="3474720" cy="1417320"/>
          </a:xfrm>
          <a:prstGeom prst="roundRect">
            <a:avLst>
              <a:gd name="adj" fmla="val 5161"/>
            </a:avLst>
          </a:prstGeom>
          <a:solidFill>
            <a:srgbClr val="FFFFFF"/>
          </a:solidFill>
          <a:ln w="19050">
            <a:solidFill>
              <a:srgbClr val="3F5E7A"/>
            </a:solidFill>
            <a:prstDash val="solid"/>
          </a:ln>
        </p:spPr>
      </p:sp>
      <p:sp>
        <p:nvSpPr>
          <p:cNvPr id="4" name="Text 2"/>
          <p:cNvSpPr txBox="1"/>
          <p:nvPr/>
        </p:nvSpPr>
        <p:spPr>
          <a:xfrm>
            <a:off x="685800" y="1645920"/>
            <a:ext cx="3200400" cy="365760"/>
          </a:xfrm>
          <a:prstGeom prst="rect">
            <a:avLst/>
          </a:prstGeom>
          <a:noFill/>
          <a:ln/>
        </p:spPr>
        <p:txBody>
          <a:bodyPr wrap="square" lIns="0" tIns="0" rIns="0" bIns="0" rtlCol="0" anchor="ctr"/>
          <a:lstStyle/>
          <a:p>
            <a:pPr algn="ctr" indent="0" marL="0">
              <a:buNone/>
            </a:pPr>
            <a:r>
              <a:rPr lang="en-US" sz="1600" b="1" dirty="0">
                <a:solidFill>
                  <a:srgbClr val="3F5E7A"/>
                </a:solidFill>
              </a:rPr>
              <a:t>/metrics</a:t>
            </a:r>
            <a:endParaRPr lang="en-US" sz="1600" dirty="0"/>
          </a:p>
        </p:txBody>
      </p:sp>
      <p:sp>
        <p:nvSpPr>
          <p:cNvPr id="5" name="Text 3"/>
          <p:cNvSpPr txBox="1"/>
          <p:nvPr/>
        </p:nvSpPr>
        <p:spPr>
          <a:xfrm>
            <a:off x="685800" y="2057400"/>
            <a:ext cx="3200400" cy="685800"/>
          </a:xfrm>
          <a:prstGeom prst="rect">
            <a:avLst/>
          </a:prstGeom>
          <a:noFill/>
          <a:ln/>
        </p:spPr>
        <p:txBody>
          <a:bodyPr wrap="square" lIns="0" tIns="0" rIns="0" bIns="0" rtlCol="0" anchor="ctr"/>
          <a:lstStyle/>
          <a:p>
            <a:pPr algn="ctr" indent="0" marL="0">
              <a:lnSpc>
                <a:spcPts val="1500"/>
              </a:lnSpc>
              <a:buNone/>
            </a:pPr>
            <a:r>
              <a:rPr lang="en-US" sz="1100" dirty="0">
                <a:solidFill>
                  <a:srgbClr val="6E5C62"/>
                </a:solidFill>
              </a:rPr>
              <a:t>one line of code:</a:t>
            </a:r>
            <a:endParaRPr lang="en-US" sz="1100" dirty="0"/>
          </a:p>
          <a:p>
            <a:pPr algn="ctr" indent="0" marL="0">
              <a:lnSpc>
                <a:spcPts val="1500"/>
              </a:lnSpc>
              <a:buNone/>
            </a:pPr>
            <a:r>
              <a:rPr lang="en-US" sz="1100" dirty="0">
                <a:solidFill>
                  <a:srgbClr val="6E5C62"/>
                </a:solidFill>
              </a:rPr>
              <a:t>Instrumentator().expose(app)</a:t>
            </a:r>
            <a:endParaRPr lang="en-US" sz="1100" dirty="0"/>
          </a:p>
        </p:txBody>
      </p:sp>
      <p:sp>
        <p:nvSpPr>
          <p:cNvPr id="6" name="Shape 4"/>
          <p:cNvSpPr/>
          <p:nvPr/>
        </p:nvSpPr>
        <p:spPr>
          <a:xfrm>
            <a:off x="4096512" y="2103120"/>
            <a:ext cx="301752" cy="146304"/>
          </a:xfrm>
          <a:prstGeom prst="rightArrow">
            <a:avLst/>
          </a:prstGeom>
          <a:solidFill>
            <a:srgbClr val="C4B2B8"/>
          </a:solidFill>
          <a:ln w="12700">
            <a:solidFill>
              <a:srgbClr val="C4B2B8"/>
            </a:solidFill>
            <a:prstDash val="solid"/>
          </a:ln>
        </p:spPr>
      </p:sp>
      <p:sp>
        <p:nvSpPr>
          <p:cNvPr id="7" name="Shape 5"/>
          <p:cNvSpPr/>
          <p:nvPr/>
        </p:nvSpPr>
        <p:spPr>
          <a:xfrm>
            <a:off x="4480560" y="1463040"/>
            <a:ext cx="3474720" cy="1417320"/>
          </a:xfrm>
          <a:prstGeom prst="roundRect">
            <a:avLst>
              <a:gd name="adj" fmla="val 5161"/>
            </a:avLst>
          </a:prstGeom>
          <a:solidFill>
            <a:srgbClr val="FFFFFF"/>
          </a:solidFill>
          <a:ln w="19050">
            <a:solidFill>
              <a:srgbClr val="6D2E46"/>
            </a:solidFill>
            <a:prstDash val="solid"/>
          </a:ln>
        </p:spPr>
      </p:sp>
      <p:sp>
        <p:nvSpPr>
          <p:cNvPr id="8" name="Text 6"/>
          <p:cNvSpPr txBox="1"/>
          <p:nvPr/>
        </p:nvSpPr>
        <p:spPr>
          <a:xfrm>
            <a:off x="4617720" y="1645920"/>
            <a:ext cx="3200400" cy="365760"/>
          </a:xfrm>
          <a:prstGeom prst="rect">
            <a:avLst/>
          </a:prstGeom>
          <a:noFill/>
          <a:ln/>
        </p:spPr>
        <p:txBody>
          <a:bodyPr wrap="square" lIns="0" tIns="0" rIns="0" bIns="0" rtlCol="0" anchor="ctr"/>
          <a:lstStyle/>
          <a:p>
            <a:pPr algn="ctr" indent="0" marL="0">
              <a:buNone/>
            </a:pPr>
            <a:r>
              <a:rPr lang="en-US" sz="1600" b="1" dirty="0">
                <a:solidFill>
                  <a:srgbClr val="6D2E46"/>
                </a:solidFill>
              </a:rPr>
              <a:t>Prometheus</a:t>
            </a:r>
            <a:endParaRPr lang="en-US" sz="1600" dirty="0"/>
          </a:p>
        </p:txBody>
      </p:sp>
      <p:sp>
        <p:nvSpPr>
          <p:cNvPr id="9" name="Text 7"/>
          <p:cNvSpPr txBox="1"/>
          <p:nvPr/>
        </p:nvSpPr>
        <p:spPr>
          <a:xfrm>
            <a:off x="4617720" y="2057400"/>
            <a:ext cx="3200400" cy="685800"/>
          </a:xfrm>
          <a:prstGeom prst="rect">
            <a:avLst/>
          </a:prstGeom>
          <a:noFill/>
          <a:ln/>
        </p:spPr>
        <p:txBody>
          <a:bodyPr wrap="square" lIns="0" tIns="0" rIns="0" bIns="0" rtlCol="0" anchor="ctr"/>
          <a:lstStyle/>
          <a:p>
            <a:pPr algn="ctr" indent="0" marL="0">
              <a:lnSpc>
                <a:spcPts val="1500"/>
              </a:lnSpc>
              <a:buNone/>
            </a:pPr>
            <a:r>
              <a:rPr lang="en-US" sz="1100" dirty="0">
                <a:solidFill>
                  <a:srgbClr val="6E5C62"/>
                </a:solidFill>
              </a:rPr>
              <a:t>endpoints service discovery</a:t>
            </a:r>
            <a:endParaRPr lang="en-US" sz="1100" dirty="0"/>
          </a:p>
          <a:p>
            <a:pPr algn="ctr" indent="0" marL="0">
              <a:lnSpc>
                <a:spcPts val="1500"/>
              </a:lnSpc>
              <a:buNone/>
            </a:pPr>
            <a:r>
              <a:rPr lang="en-US" sz="1100" dirty="0">
                <a:solidFill>
                  <a:srgbClr val="6E5C62"/>
                </a:solidFill>
              </a:rPr>
              <a:t>scrapes each pod separately</a:t>
            </a:r>
            <a:endParaRPr lang="en-US" sz="1100" dirty="0"/>
          </a:p>
        </p:txBody>
      </p:sp>
      <p:sp>
        <p:nvSpPr>
          <p:cNvPr id="10" name="Shape 8"/>
          <p:cNvSpPr/>
          <p:nvPr/>
        </p:nvSpPr>
        <p:spPr>
          <a:xfrm>
            <a:off x="8028432" y="2103120"/>
            <a:ext cx="301752" cy="146304"/>
          </a:xfrm>
          <a:prstGeom prst="rightArrow">
            <a:avLst/>
          </a:prstGeom>
          <a:solidFill>
            <a:srgbClr val="C4B2B8"/>
          </a:solidFill>
          <a:ln w="12700">
            <a:solidFill>
              <a:srgbClr val="C4B2B8"/>
            </a:solidFill>
            <a:prstDash val="solid"/>
          </a:ln>
        </p:spPr>
      </p:sp>
      <p:sp>
        <p:nvSpPr>
          <p:cNvPr id="11" name="Shape 9"/>
          <p:cNvSpPr/>
          <p:nvPr/>
        </p:nvSpPr>
        <p:spPr>
          <a:xfrm>
            <a:off x="8412480" y="1463040"/>
            <a:ext cx="3474720" cy="1417320"/>
          </a:xfrm>
          <a:prstGeom prst="roundRect">
            <a:avLst>
              <a:gd name="adj" fmla="val 5161"/>
            </a:avLst>
          </a:prstGeom>
          <a:solidFill>
            <a:srgbClr val="FFFFFF"/>
          </a:solidFill>
          <a:ln w="19050">
            <a:solidFill>
              <a:srgbClr val="2E7D63"/>
            </a:solidFill>
            <a:prstDash val="solid"/>
          </a:ln>
        </p:spPr>
      </p:sp>
      <p:sp>
        <p:nvSpPr>
          <p:cNvPr id="12" name="Text 10"/>
          <p:cNvSpPr txBox="1"/>
          <p:nvPr/>
        </p:nvSpPr>
        <p:spPr>
          <a:xfrm>
            <a:off x="8549640" y="1645920"/>
            <a:ext cx="3200400" cy="365760"/>
          </a:xfrm>
          <a:prstGeom prst="rect">
            <a:avLst/>
          </a:prstGeom>
          <a:noFill/>
          <a:ln/>
        </p:spPr>
        <p:txBody>
          <a:bodyPr wrap="square" lIns="0" tIns="0" rIns="0" bIns="0" rtlCol="0" anchor="ctr"/>
          <a:lstStyle/>
          <a:p>
            <a:pPr algn="ctr" indent="0" marL="0">
              <a:buNone/>
            </a:pPr>
            <a:r>
              <a:rPr lang="en-US" sz="1600" b="1" dirty="0">
                <a:solidFill>
                  <a:srgbClr val="2E7D63"/>
                </a:solidFill>
              </a:rPr>
              <a:t>Grafana</a:t>
            </a:r>
            <a:endParaRPr lang="en-US" sz="1600" dirty="0"/>
          </a:p>
        </p:txBody>
      </p:sp>
      <p:sp>
        <p:nvSpPr>
          <p:cNvPr id="13" name="Text 11"/>
          <p:cNvSpPr txBox="1"/>
          <p:nvPr/>
        </p:nvSpPr>
        <p:spPr>
          <a:xfrm>
            <a:off x="8549640" y="2057400"/>
            <a:ext cx="3200400" cy="685800"/>
          </a:xfrm>
          <a:prstGeom prst="rect">
            <a:avLst/>
          </a:prstGeom>
          <a:noFill/>
          <a:ln/>
        </p:spPr>
        <p:txBody>
          <a:bodyPr wrap="square" lIns="0" tIns="0" rIns="0" bIns="0" rtlCol="0" anchor="ctr"/>
          <a:lstStyle/>
          <a:p>
            <a:pPr algn="ctr" indent="0" marL="0">
              <a:lnSpc>
                <a:spcPts val="1500"/>
              </a:lnSpc>
              <a:buNone/>
            </a:pPr>
            <a:r>
              <a:rPr lang="en-US" sz="1100" dirty="0">
                <a:solidFill>
                  <a:srgbClr val="6E5C62"/>
                </a:solidFill>
              </a:rPr>
              <a:t>data source provisioned</a:t>
            </a:r>
            <a:endParaRPr lang="en-US" sz="1100" dirty="0"/>
          </a:p>
          <a:p>
            <a:pPr algn="ctr" indent="0" marL="0">
              <a:lnSpc>
                <a:spcPts val="1500"/>
              </a:lnSpc>
              <a:buNone/>
            </a:pPr>
            <a:r>
              <a:rPr lang="en-US" sz="1100" dirty="0">
                <a:solidFill>
                  <a:srgbClr val="6E5C62"/>
                </a:solidFill>
              </a:rPr>
              <a:t>from a values file</a:t>
            </a:r>
            <a:endParaRPr lang="en-US" sz="1100" dirty="0"/>
          </a:p>
        </p:txBody>
      </p:sp>
      <p:sp>
        <p:nvSpPr>
          <p:cNvPr id="14" name="Shape 12"/>
          <p:cNvSpPr/>
          <p:nvPr/>
        </p:nvSpPr>
        <p:spPr>
          <a:xfrm>
            <a:off x="548640" y="3108960"/>
            <a:ext cx="6858000" cy="1371600"/>
          </a:xfrm>
          <a:prstGeom prst="roundRect">
            <a:avLst>
              <a:gd name="adj" fmla="val 5333"/>
            </a:avLst>
          </a:prstGeom>
          <a:solidFill>
            <a:srgbClr val="F9F9FB"/>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5" name="Text 13"/>
          <p:cNvSpPr txBox="1"/>
          <p:nvPr/>
        </p:nvSpPr>
        <p:spPr>
          <a:xfrm>
            <a:off x="777240" y="3310128"/>
            <a:ext cx="6400800" cy="457200"/>
          </a:xfrm>
          <a:prstGeom prst="rect">
            <a:avLst/>
          </a:prstGeom>
          <a:noFill/>
          <a:ln/>
        </p:spPr>
        <p:txBody>
          <a:bodyPr wrap="square" lIns="0" tIns="0" rIns="0" bIns="0" rtlCol="0" anchor="ctr"/>
          <a:lstStyle/>
          <a:p>
            <a:pPr indent="0" marL="0">
              <a:buNone/>
            </a:pPr>
            <a:r>
              <a:rPr lang="en-US" sz="1250" dirty="0">
                <a:solidFill>
                  <a:srgbClr val="6D2E46"/>
                </a:solidFill>
                <a:latin typeface="Courier New" pitchFamily="34" charset="0"/>
                <a:ea typeface="Courier New" pitchFamily="34" charset="-122"/>
                <a:cs typeface="Courier New" pitchFamily="34" charset="-120"/>
              </a:rPr>
              <a:t>sum by (handler) (rate(http_requests_total{job="bookshelf-backend"}[5m]))</a:t>
            </a:r>
            <a:endParaRPr lang="en-US" sz="1250" dirty="0"/>
          </a:p>
        </p:txBody>
      </p:sp>
      <p:sp>
        <p:nvSpPr>
          <p:cNvPr id="16" name="Text 14"/>
          <p:cNvSpPr txBox="1"/>
          <p:nvPr/>
        </p:nvSpPr>
        <p:spPr>
          <a:xfrm>
            <a:off x="777240" y="3840480"/>
            <a:ext cx="6400800" cy="411480"/>
          </a:xfrm>
          <a:prstGeom prst="rect">
            <a:avLst/>
          </a:prstGeom>
          <a:noFill/>
          <a:ln/>
        </p:spPr>
        <p:txBody>
          <a:bodyPr wrap="square" lIns="0" tIns="0" rIns="0" bIns="0" rtlCol="0" anchor="ctr"/>
          <a:lstStyle/>
          <a:p>
            <a:pPr indent="0" marL="0">
              <a:buNone/>
            </a:pPr>
            <a:r>
              <a:rPr lang="en-US" sz="1200" dirty="0">
                <a:solidFill>
                  <a:srgbClr val="6E5C62"/>
                </a:solidFill>
              </a:rPr>
              <a:t>One line per endpoint, live, while a load script drives traffic through the Ingress.</a:t>
            </a:r>
            <a:endParaRPr lang="en-US" sz="1200" dirty="0"/>
          </a:p>
        </p:txBody>
      </p:sp>
      <p:sp>
        <p:nvSpPr>
          <p:cNvPr id="17" name="Shape 15"/>
          <p:cNvSpPr/>
          <p:nvPr/>
        </p:nvSpPr>
        <p:spPr>
          <a:xfrm>
            <a:off x="7680960" y="3108960"/>
            <a:ext cx="3931920" cy="1371600"/>
          </a:xfrm>
          <a:prstGeom prst="roundRect">
            <a:avLst>
              <a:gd name="adj" fmla="val 5333"/>
            </a:avLst>
          </a:prstGeom>
          <a:solidFill>
            <a:srgbClr val="F7FBF9"/>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18" name="Text 16"/>
          <p:cNvSpPr txBox="1"/>
          <p:nvPr/>
        </p:nvSpPr>
        <p:spPr>
          <a:xfrm>
            <a:off x="7909560" y="3310128"/>
            <a:ext cx="3566160" cy="384048"/>
          </a:xfrm>
          <a:prstGeom prst="rect">
            <a:avLst/>
          </a:prstGeom>
          <a:noFill/>
          <a:ln/>
        </p:spPr>
        <p:txBody>
          <a:bodyPr wrap="square" lIns="0" tIns="0" rIns="0" bIns="0" rtlCol="0" anchor="ctr"/>
          <a:lstStyle/>
          <a:p>
            <a:pPr indent="0" marL="0">
              <a:buNone/>
            </a:pPr>
            <a:r>
              <a:rPr lang="en-US" sz="1700" b="1" dirty="0">
                <a:solidFill>
                  <a:srgbClr val="2E7D63"/>
                </a:solidFill>
              </a:rPr>
              <a:t>2 / 2 targets UP</a:t>
            </a:r>
            <a:endParaRPr lang="en-US" sz="1700" dirty="0"/>
          </a:p>
        </p:txBody>
      </p:sp>
      <p:sp>
        <p:nvSpPr>
          <p:cNvPr id="19" name="Text 17"/>
          <p:cNvSpPr txBox="1"/>
          <p:nvPr/>
        </p:nvSpPr>
        <p:spPr>
          <a:xfrm>
            <a:off x="7909560" y="3749040"/>
            <a:ext cx="3520440" cy="548640"/>
          </a:xfrm>
          <a:prstGeom prst="rect">
            <a:avLst/>
          </a:prstGeom>
          <a:noFill/>
          <a:ln/>
        </p:spPr>
        <p:txBody>
          <a:bodyPr wrap="square" lIns="0" tIns="0" rIns="0" bIns="0" rtlCol="0" anchor="ctr"/>
          <a:lstStyle/>
          <a:p>
            <a:pPr indent="0" marL="0">
              <a:lnSpc>
                <a:spcPts val="1500"/>
              </a:lnSpc>
              <a:buNone/>
            </a:pPr>
            <a:r>
              <a:rPr lang="en-US" sz="1150" dirty="0">
                <a:solidFill>
                  <a:srgbClr val="6E5C62"/>
                </a:solidFill>
              </a:rPr>
              <a:t>each backend pod shows as its own target, labelled with its pod name</a:t>
            </a:r>
            <a:endParaRPr lang="en-US" sz="1150" dirty="0"/>
          </a:p>
        </p:txBody>
      </p:sp>
      <p:sp>
        <p:nvSpPr>
          <p:cNvPr id="20" name="Shape 18"/>
          <p:cNvSpPr/>
          <p:nvPr/>
        </p:nvSpPr>
        <p:spPr>
          <a:xfrm>
            <a:off x="548640" y="4754880"/>
            <a:ext cx="11064240" cy="1143000"/>
          </a:xfrm>
          <a:prstGeom prst="roundRect">
            <a:avLst>
              <a:gd name="adj" fmla="val 6400"/>
            </a:avLst>
          </a:prstGeom>
          <a:solidFill>
            <a:srgbClr val="FAF6F7"/>
          </a:solidFill>
          <a:ln w="9525">
            <a:solidFill>
              <a:srgbClr val="E4D8DC"/>
            </a:solidFill>
            <a:prstDash val="solid"/>
          </a:ln>
          <a:effectLst>
            <a:outerShdw sx="100000" sy="100000" kx="0" ky="0" algn="bl" rotWithShape="0" blurRad="76200" dist="12700" dir="5400000">
              <a:srgbClr val="C9B6BC">
                <a:alpha val="35000"/>
              </a:srgbClr>
            </a:outerShdw>
          </a:effectLst>
        </p:spPr>
      </p:sp>
      <p:sp>
        <p:nvSpPr>
          <p:cNvPr id="21" name="Text 19"/>
          <p:cNvSpPr txBox="1"/>
          <p:nvPr/>
        </p:nvSpPr>
        <p:spPr>
          <a:xfrm>
            <a:off x="822960" y="4919472"/>
            <a:ext cx="6400800" cy="320040"/>
          </a:xfrm>
          <a:prstGeom prst="rect">
            <a:avLst/>
          </a:prstGeom>
          <a:noFill/>
          <a:ln/>
        </p:spPr>
        <p:txBody>
          <a:bodyPr wrap="square" lIns="0" tIns="0" rIns="0" bIns="0" rtlCol="0" anchor="ctr"/>
          <a:lstStyle/>
          <a:p>
            <a:pPr indent="0" marL="0">
              <a:buNone/>
            </a:pPr>
            <a:r>
              <a:rPr lang="en-US" sz="1350" b="1" dirty="0">
                <a:solidFill>
                  <a:schemeClr val="tx2"/>
                </a:solidFill>
              </a:rPr>
              <a:t>Why service discovery and not a static target</a:t>
            </a:r>
            <a:endParaRPr lang="en-US" sz="1350" dirty="0"/>
          </a:p>
        </p:txBody>
      </p:sp>
      <p:sp>
        <p:nvSpPr>
          <p:cNvPr id="22" name="Text 20"/>
          <p:cNvSpPr txBox="1"/>
          <p:nvPr/>
        </p:nvSpPr>
        <p:spPr>
          <a:xfrm>
            <a:off x="822960" y="5285232"/>
            <a:ext cx="10515600" cy="502920"/>
          </a:xfrm>
          <a:prstGeom prst="rect">
            <a:avLst/>
          </a:prstGeom>
          <a:noFill/>
          <a:ln/>
        </p:spPr>
        <p:txBody>
          <a:bodyPr wrap="square" lIns="0" tIns="0" rIns="0" bIns="0" rtlCol="0" anchor="ctr"/>
          <a:lstStyle/>
          <a:p>
            <a:pPr indent="0" marL="0">
              <a:lnSpc>
                <a:spcPts val="1600"/>
              </a:lnSpc>
              <a:buNone/>
            </a:pPr>
            <a:r>
              <a:rPr lang="en-US" sz="1200" dirty="0">
                <a:solidFill>
                  <a:srgbClr val="6E5C62"/>
                </a:solidFill>
              </a:rPr>
              <a:t>A static target pointed at the Service would be load balanced to a random pod on every scrape, and the counters would jump around. Keeping only the bookshelf-backend endpoints scrapes each replica on its own.</a:t>
            </a:r>
            <a:endParaRPr lang="en-US" sz="1200" dirty="0"/>
          </a:p>
        </p:txBody>
      </p:sp>
      <p:sp>
        <p:nvSpPr>
          <p:cNvPr id="25" name="Slide Number Placeholder 0"/>
          <p:cNvSpPr>
            <a:spLocks noGrp="1"/>
          </p:cNvSpPr>
          <p:nvPr>
            <p:ph type="sldNum" sz="quarter" idx="4294967295"/>
          </p:nvPr>
        </p:nvSpPr>
        <p:spPr>
          <a:xfrm>
            <a:off x="11430000" y="626364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9B8B9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822960"/>
          </a:xfrm>
          <a:prstGeom prst="rect">
            <a:avLst/>
          </a:prstGeom>
          <a:noFill/>
          <a:ln/>
        </p:spPr>
        <p:txBody>
          <a:bodyPr wrap="square" rtlCol="0" anchor="ctr"/>
          <a:lstStyle/>
          <a:p>
            <a:pPr algn="l" indent="0" marL="0">
              <a:buNone/>
            </a:pPr>
            <a:r>
              <a:rPr lang="en-US" sz="3600" b="1" dirty="0">
                <a:solidFill>
                  <a:schemeClr val="bg1"/>
                </a:solidFill>
              </a:rPr>
              <a:t>What I learned</a:t>
            </a:r>
            <a:endParaRPr lang="en-US" sz="3600" dirty="0"/>
          </a:p>
        </p:txBody>
      </p:sp>
      <p:sp>
        <p:nvSpPr>
          <p:cNvPr id="3" name="Shape 1"/>
          <p:cNvSpPr/>
          <p:nvPr/>
        </p:nvSpPr>
        <p:spPr>
          <a:xfrm>
            <a:off x="822960" y="1783080"/>
            <a:ext cx="10515600" cy="914400"/>
          </a:xfrm>
          <a:prstGeom prst="roundRect">
            <a:avLst>
              <a:gd name="adj" fmla="val 6000"/>
            </a:avLst>
          </a:prstGeom>
          <a:solidFill>
            <a:srgbClr val="7E3A52"/>
          </a:solidFill>
          <a:ln w="9525">
            <a:solidFill>
              <a:srgbClr val="8E4760"/>
            </a:solidFill>
            <a:prstDash val="solid"/>
          </a:ln>
        </p:spPr>
      </p:sp>
      <p:sp>
        <p:nvSpPr>
          <p:cNvPr id="4" name="Shape 2"/>
          <p:cNvSpPr/>
          <p:nvPr/>
        </p:nvSpPr>
        <p:spPr>
          <a:xfrm>
            <a:off x="1051560" y="2048256"/>
            <a:ext cx="384048" cy="384048"/>
          </a:xfrm>
          <a:prstGeom prst="ellipse">
            <a:avLst/>
          </a:prstGeom>
          <a:solidFill>
            <a:srgbClr val="E6C78A"/>
          </a:solidFill>
          <a:ln w="12700">
            <a:solidFill>
              <a:srgbClr val="E6C78A"/>
            </a:solidFill>
            <a:prstDash val="solid"/>
          </a:ln>
        </p:spPr>
      </p:sp>
      <p:sp>
        <p:nvSpPr>
          <p:cNvPr id="5" name="Text 3"/>
          <p:cNvSpPr txBox="1"/>
          <p:nvPr/>
        </p:nvSpPr>
        <p:spPr>
          <a:xfrm>
            <a:off x="105156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600200" y="1892808"/>
            <a:ext cx="9509760" cy="329184"/>
          </a:xfrm>
          <a:prstGeom prst="rect">
            <a:avLst/>
          </a:prstGeom>
          <a:noFill/>
          <a:ln/>
        </p:spPr>
        <p:txBody>
          <a:bodyPr wrap="square" lIns="0" tIns="0" rIns="0" bIns="0" rtlCol="0" anchor="ctr"/>
          <a:lstStyle/>
          <a:p>
            <a:pPr indent="0" marL="0">
              <a:buNone/>
            </a:pPr>
            <a:r>
              <a:rPr lang="en-US" sz="1500" b="1" dirty="0">
                <a:solidFill>
                  <a:srgbClr val="FFFFFF"/>
                </a:solidFill>
              </a:rPr>
              <a:t>Running it is the only test that counts</a:t>
            </a:r>
            <a:endParaRPr lang="en-US" sz="1500" dirty="0"/>
          </a:p>
        </p:txBody>
      </p:sp>
      <p:sp>
        <p:nvSpPr>
          <p:cNvPr id="7" name="Text 5"/>
          <p:cNvSpPr txBox="1"/>
          <p:nvPr/>
        </p:nvSpPr>
        <p:spPr>
          <a:xfrm>
            <a:off x="1600200" y="2240280"/>
            <a:ext cx="9509760" cy="384048"/>
          </a:xfrm>
          <a:prstGeom prst="rect">
            <a:avLst/>
          </a:prstGeom>
          <a:noFill/>
          <a:ln/>
        </p:spPr>
        <p:txBody>
          <a:bodyPr wrap="square" lIns="0" tIns="0" rIns="0" bIns="0" rtlCol="0" anchor="ctr"/>
          <a:lstStyle/>
          <a:p>
            <a:pPr indent="0" marL="0">
              <a:lnSpc>
                <a:spcPts val="1500"/>
              </a:lnSpc>
              <a:buNone/>
            </a:pPr>
            <a:r>
              <a:rPr lang="en-US" sz="1150" dirty="0">
                <a:solidFill>
                  <a:srgbClr val="E8D2D9"/>
                </a:solidFill>
              </a:rPr>
              <a:t>Every pipeline bug I hit was invisible locally - a tag without its v, an uppercase username, a package owned by another repo.</a:t>
            </a:r>
            <a:endParaRPr lang="en-US" sz="1150" dirty="0"/>
          </a:p>
        </p:txBody>
      </p:sp>
      <p:sp>
        <p:nvSpPr>
          <p:cNvPr id="8" name="Shape 6"/>
          <p:cNvSpPr/>
          <p:nvPr/>
        </p:nvSpPr>
        <p:spPr>
          <a:xfrm>
            <a:off x="822960" y="2862072"/>
            <a:ext cx="10515600" cy="914400"/>
          </a:xfrm>
          <a:prstGeom prst="roundRect">
            <a:avLst>
              <a:gd name="adj" fmla="val 6000"/>
            </a:avLst>
          </a:prstGeom>
          <a:solidFill>
            <a:srgbClr val="7E3A52"/>
          </a:solidFill>
          <a:ln w="9525">
            <a:solidFill>
              <a:srgbClr val="8E4760"/>
            </a:solidFill>
            <a:prstDash val="solid"/>
          </a:ln>
        </p:spPr>
      </p:sp>
      <p:sp>
        <p:nvSpPr>
          <p:cNvPr id="9" name="Shape 7"/>
          <p:cNvSpPr/>
          <p:nvPr/>
        </p:nvSpPr>
        <p:spPr>
          <a:xfrm>
            <a:off x="1051560" y="3127248"/>
            <a:ext cx="384048" cy="384048"/>
          </a:xfrm>
          <a:prstGeom prst="ellipse">
            <a:avLst/>
          </a:prstGeom>
          <a:solidFill>
            <a:srgbClr val="E6C78A"/>
          </a:solidFill>
          <a:ln w="12700">
            <a:solidFill>
              <a:srgbClr val="E6C78A"/>
            </a:solidFill>
            <a:prstDash val="solid"/>
          </a:ln>
        </p:spPr>
      </p:sp>
      <p:sp>
        <p:nvSpPr>
          <p:cNvPr id="10" name="Text 8"/>
          <p:cNvSpPr txBox="1"/>
          <p:nvPr/>
        </p:nvSpPr>
        <p:spPr>
          <a:xfrm>
            <a:off x="1051560"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1600200" y="2971800"/>
            <a:ext cx="9509760" cy="329184"/>
          </a:xfrm>
          <a:prstGeom prst="rect">
            <a:avLst/>
          </a:prstGeom>
          <a:noFill/>
          <a:ln/>
        </p:spPr>
        <p:txBody>
          <a:bodyPr wrap="square" lIns="0" tIns="0" rIns="0" bIns="0" rtlCol="0" anchor="ctr"/>
          <a:lstStyle/>
          <a:p>
            <a:pPr indent="0" marL="0">
              <a:buNone/>
            </a:pPr>
            <a:r>
              <a:rPr lang="en-US" sz="1500" b="1" dirty="0">
                <a:solidFill>
                  <a:srgbClr val="FFFFFF"/>
                </a:solidFill>
              </a:rPr>
              <a:t>Running is not the same as working</a:t>
            </a:r>
            <a:endParaRPr lang="en-US" sz="1500" dirty="0"/>
          </a:p>
        </p:txBody>
      </p:sp>
      <p:sp>
        <p:nvSpPr>
          <p:cNvPr id="12" name="Text 10"/>
          <p:cNvSpPr txBox="1"/>
          <p:nvPr/>
        </p:nvSpPr>
        <p:spPr>
          <a:xfrm>
            <a:off x="1600200" y="3319272"/>
            <a:ext cx="9509760" cy="384048"/>
          </a:xfrm>
          <a:prstGeom prst="rect">
            <a:avLst/>
          </a:prstGeom>
          <a:noFill/>
          <a:ln/>
        </p:spPr>
        <p:txBody>
          <a:bodyPr wrap="square" lIns="0" tIns="0" rIns="0" bIns="0" rtlCol="0" anchor="ctr"/>
          <a:lstStyle/>
          <a:p>
            <a:pPr indent="0" marL="0">
              <a:lnSpc>
                <a:spcPts val="1500"/>
              </a:lnSpc>
              <a:buNone/>
            </a:pPr>
            <a:r>
              <a:rPr lang="en-US" sz="1150" dirty="0">
                <a:solidFill>
                  <a:srgbClr val="E8D2D9"/>
                </a:solidFill>
              </a:rPr>
              <a:t>The ingress controller reported 1/1 Running while dropping four requests in five. Its own logs had the answer: nginx workers dying on startup.</a:t>
            </a:r>
            <a:endParaRPr lang="en-US" sz="1150" dirty="0"/>
          </a:p>
        </p:txBody>
      </p:sp>
      <p:sp>
        <p:nvSpPr>
          <p:cNvPr id="13" name="Shape 11"/>
          <p:cNvSpPr/>
          <p:nvPr/>
        </p:nvSpPr>
        <p:spPr>
          <a:xfrm>
            <a:off x="822960" y="3941064"/>
            <a:ext cx="10515600" cy="914400"/>
          </a:xfrm>
          <a:prstGeom prst="roundRect">
            <a:avLst>
              <a:gd name="adj" fmla="val 6000"/>
            </a:avLst>
          </a:prstGeom>
          <a:solidFill>
            <a:srgbClr val="7E3A52"/>
          </a:solidFill>
          <a:ln w="9525">
            <a:solidFill>
              <a:srgbClr val="8E4760"/>
            </a:solidFill>
            <a:prstDash val="solid"/>
          </a:ln>
        </p:spPr>
      </p:sp>
      <p:sp>
        <p:nvSpPr>
          <p:cNvPr id="14" name="Shape 12"/>
          <p:cNvSpPr/>
          <p:nvPr/>
        </p:nvSpPr>
        <p:spPr>
          <a:xfrm>
            <a:off x="1051560" y="4206240"/>
            <a:ext cx="384048" cy="384048"/>
          </a:xfrm>
          <a:prstGeom prst="ellipse">
            <a:avLst/>
          </a:prstGeom>
          <a:solidFill>
            <a:srgbClr val="E6C78A"/>
          </a:solidFill>
          <a:ln w="12700">
            <a:solidFill>
              <a:srgbClr val="E6C78A"/>
            </a:solidFill>
            <a:prstDash val="solid"/>
          </a:ln>
        </p:spPr>
      </p:sp>
      <p:sp>
        <p:nvSpPr>
          <p:cNvPr id="15" name="Text 13"/>
          <p:cNvSpPr txBox="1"/>
          <p:nvPr/>
        </p:nvSpPr>
        <p:spPr>
          <a:xfrm>
            <a:off x="1051560" y="4206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1600200" y="4050792"/>
            <a:ext cx="9509760" cy="329184"/>
          </a:xfrm>
          <a:prstGeom prst="rect">
            <a:avLst/>
          </a:prstGeom>
          <a:noFill/>
          <a:ln/>
        </p:spPr>
        <p:txBody>
          <a:bodyPr wrap="square" lIns="0" tIns="0" rIns="0" bIns="0" rtlCol="0" anchor="ctr"/>
          <a:lstStyle/>
          <a:p>
            <a:pPr indent="0" marL="0">
              <a:buNone/>
            </a:pPr>
            <a:r>
              <a:rPr lang="en-US" sz="1500" b="1" dirty="0">
                <a:solidFill>
                  <a:srgbClr val="FFFFFF"/>
                </a:solidFill>
              </a:rPr>
              <a:t>A gate is only useful if it stays on</a:t>
            </a:r>
            <a:endParaRPr lang="en-US" sz="1500" dirty="0"/>
          </a:p>
        </p:txBody>
      </p:sp>
      <p:sp>
        <p:nvSpPr>
          <p:cNvPr id="17" name="Text 15"/>
          <p:cNvSpPr txBox="1"/>
          <p:nvPr/>
        </p:nvSpPr>
        <p:spPr>
          <a:xfrm>
            <a:off x="1600200" y="4398264"/>
            <a:ext cx="9509760" cy="384048"/>
          </a:xfrm>
          <a:prstGeom prst="rect">
            <a:avLst/>
          </a:prstGeom>
          <a:noFill/>
          <a:ln/>
        </p:spPr>
        <p:txBody>
          <a:bodyPr wrap="square" lIns="0" tIns="0" rIns="0" bIns="0" rtlCol="0" anchor="ctr"/>
          <a:lstStyle/>
          <a:p>
            <a:pPr indent="0" marL="0">
              <a:lnSpc>
                <a:spcPts val="1500"/>
              </a:lnSpc>
              <a:buNone/>
            </a:pPr>
            <a:r>
              <a:rPr lang="en-US" sz="1150" dirty="0">
                <a:solidFill>
                  <a:srgbClr val="E8D2D9"/>
                </a:solidFill>
              </a:rPr>
              <a:t>Failing on unfixable CVEs is how teams end up disabling security scanning altogether.</a:t>
            </a:r>
            <a:endParaRPr lang="en-US" sz="1150" dirty="0"/>
          </a:p>
        </p:txBody>
      </p:sp>
      <p:sp>
        <p:nvSpPr>
          <p:cNvPr id="18" name="Shape 16"/>
          <p:cNvSpPr/>
          <p:nvPr/>
        </p:nvSpPr>
        <p:spPr>
          <a:xfrm>
            <a:off x="822960" y="5020056"/>
            <a:ext cx="10515600" cy="914400"/>
          </a:xfrm>
          <a:prstGeom prst="roundRect">
            <a:avLst>
              <a:gd name="adj" fmla="val 6000"/>
            </a:avLst>
          </a:prstGeom>
          <a:solidFill>
            <a:srgbClr val="7E3A52"/>
          </a:solidFill>
          <a:ln w="9525">
            <a:solidFill>
              <a:srgbClr val="8E4760"/>
            </a:solidFill>
            <a:prstDash val="solid"/>
          </a:ln>
        </p:spPr>
      </p:sp>
      <p:sp>
        <p:nvSpPr>
          <p:cNvPr id="19" name="Shape 17"/>
          <p:cNvSpPr/>
          <p:nvPr/>
        </p:nvSpPr>
        <p:spPr>
          <a:xfrm>
            <a:off x="1051560" y="5285232"/>
            <a:ext cx="384048" cy="384048"/>
          </a:xfrm>
          <a:prstGeom prst="ellipse">
            <a:avLst/>
          </a:prstGeom>
          <a:solidFill>
            <a:srgbClr val="E6C78A"/>
          </a:solidFill>
          <a:ln w="12700">
            <a:solidFill>
              <a:srgbClr val="E6C78A"/>
            </a:solidFill>
            <a:prstDash val="solid"/>
          </a:ln>
        </p:spPr>
      </p:sp>
      <p:sp>
        <p:nvSpPr>
          <p:cNvPr id="20" name="Text 18"/>
          <p:cNvSpPr txBox="1"/>
          <p:nvPr/>
        </p:nvSpPr>
        <p:spPr>
          <a:xfrm>
            <a:off x="1051560" y="5285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1600200" y="5129784"/>
            <a:ext cx="9509760" cy="329184"/>
          </a:xfrm>
          <a:prstGeom prst="rect">
            <a:avLst/>
          </a:prstGeom>
          <a:noFill/>
          <a:ln/>
        </p:spPr>
        <p:txBody>
          <a:bodyPr wrap="square" lIns="0" tIns="0" rIns="0" bIns="0" rtlCol="0" anchor="ctr"/>
          <a:lstStyle/>
          <a:p>
            <a:pPr indent="0" marL="0">
              <a:buNone/>
            </a:pPr>
            <a:r>
              <a:rPr lang="en-US" sz="1500" b="1" dirty="0">
                <a:solidFill>
                  <a:srgbClr val="FFFFFF"/>
                </a:solidFill>
              </a:rPr>
              <a:t>Honest gaps beat invented evidence</a:t>
            </a:r>
            <a:endParaRPr lang="en-US" sz="1500" dirty="0"/>
          </a:p>
        </p:txBody>
      </p:sp>
      <p:sp>
        <p:nvSpPr>
          <p:cNvPr id="22" name="Text 20"/>
          <p:cNvSpPr txBox="1"/>
          <p:nvPr/>
        </p:nvSpPr>
        <p:spPr>
          <a:xfrm>
            <a:off x="1600200" y="5477256"/>
            <a:ext cx="9509760" cy="384048"/>
          </a:xfrm>
          <a:prstGeom prst="rect">
            <a:avLst/>
          </a:prstGeom>
          <a:noFill/>
          <a:ln/>
        </p:spPr>
        <p:txBody>
          <a:bodyPr wrap="square" lIns="0" tIns="0" rIns="0" bIns="0" rtlCol="0" anchor="ctr"/>
          <a:lstStyle/>
          <a:p>
            <a:pPr indent="0" marL="0">
              <a:lnSpc>
                <a:spcPts val="1500"/>
              </a:lnSpc>
              <a:buNone/>
            </a:pPr>
            <a:r>
              <a:rPr lang="en-US" sz="1150" dirty="0">
                <a:solidFill>
                  <a:srgbClr val="E8D2D9"/>
                </a:solidFill>
              </a:rPr>
              <a:t>No AWS account meant no apply. That is written into the documentation rather than papered over.</a:t>
            </a:r>
            <a:endParaRPr lang="en-US" sz="1150" dirty="0"/>
          </a:p>
        </p:txBody>
      </p:sp>
      <p:sp>
        <p:nvSpPr>
          <p:cNvPr id="23" name="Text 21"/>
          <p:cNvSpPr txBox="1"/>
          <p:nvPr/>
        </p:nvSpPr>
        <p:spPr>
          <a:xfrm>
            <a:off x="822960" y="6217920"/>
            <a:ext cx="10515600" cy="365760"/>
          </a:xfrm>
          <a:prstGeom prst="rect">
            <a:avLst/>
          </a:prstGeom>
          <a:noFill/>
          <a:ln/>
        </p:spPr>
        <p:txBody>
          <a:bodyPr wrap="square" lIns="0" tIns="0" rIns="0" bIns="0" rtlCol="0" anchor="ctr"/>
          <a:lstStyle/>
          <a:p>
            <a:pPr indent="0" marL="0">
              <a:buNone/>
            </a:pPr>
            <a:r>
              <a:rPr lang="en-US" sz="1300" b="1" dirty="0">
                <a:solidFill>
                  <a:srgbClr val="E6C78A"/>
                </a:solidFill>
              </a:rPr>
              <a:t>github.com/piroBeastie/bookshelf</a:t>
            </a:r>
            <a:endParaRPr lang="en-US" sz="1300" dirty="0"/>
          </a:p>
        </p:txBody>
      </p:sp>
    </p:spTree>
  </p:cSld>
  <p:clrMapOvr>
    <a:masterClrMapping/>
  </p:clrMapOvr>
</p:sld>
</file>

<file path=ppt/theme/theme1.xml><?xml version="1.0" encoding="utf-8"?>
<a:theme xmlns:a="http://schemas.openxmlformats.org/drawingml/2006/main" name="BookShelf">
  <a:themeElements>
    <a:clrScheme name="BookShelf">
      <a:dk1>
        <a:srgbClr val="241318"/>
      </a:dk1>
      <a:lt1>
        <a:srgbClr val="FFFFFF"/>
      </a:lt1>
      <a:dk2>
        <a:srgbClr val="6D2E46"/>
      </a:dk2>
      <a:lt2>
        <a:srgbClr val="F4EEF0"/>
      </a:lt2>
      <a:accent1>
        <a:srgbClr val="6D2E46"/>
      </a:accent1>
      <a:accent2>
        <a:srgbClr val="A26769"/>
      </a:accent2>
      <a:accent3>
        <a:srgbClr val="2E7D63"/>
      </a:accent3>
      <a:accent4>
        <a:srgbClr val="B07D2B"/>
      </a:accent4>
      <a:accent5>
        <a:srgbClr val="3F5E7A"/>
      </a:accent5>
      <a:accent6>
        <a:srgbClr val="8A8178"/>
      </a:accent6>
      <a:hlink>
        <a:srgbClr val="6D2E46"/>
      </a:hlink>
      <a:folHlink>
        <a:srgbClr val="A26769"/>
      </a:folHlink>
    </a:clrScheme>
    <a:fontScheme name="BookShel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BookShelf - DevOps Capstone</dc:title>
  <dc:subject>Session 21 Final Capstone</dc:subject>
  <dc:creator>Nanakjot Singh Chahal</dc:creator>
  <cp:lastModifiedBy>Nanakjot Singh Chahal</cp:lastModifiedBy>
  <cp:revision>1</cp:revision>
  <dcterms:created xsi:type="dcterms:W3CDTF">2026-10-16T14:56:21Z</dcterms:created>
  <dcterms:modified xsi:type="dcterms:W3CDTF">2026-10-16T14:56:21Z</dcterms:modified>
</cp:coreProperties>
</file>